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仅汇报前两页时，本页承担任务、背景、创新和结果总结。任务是文档级事件因果关系识别，输入为文档和已标注事件提及，输出为句内及跨句事件对的因果/非因果标签。作者的核心观察是多条因果关系会共享同一个原因或结果，因此不应完全独立看待每一对事件。与外部知识增强、普通文档图表示相比，EHNEM以中心事件超边显式组织这类关系关联，利用HGNN更新事件表示，并融合局部语义与结构语义。ESC整体F1为62.8，跨句F1为61.0；各自最强基线分别是SENDIR的51.9、GESI的49.3，因此差值为10.9、11.7个百分点。English-MECI整体F1为68.7。句内专用方法DPJL仍更强。右图是论文原始标注示例，同一事件accused关联多个事件，共指关系有助于理解句内证据如何支持跨句识别。</a:t>
            </a:r>
          </a:p>
          <a:p/>
          <a:p>
            <a:r>
              <a:t>原文定位：摘要、§1–2、Tables 1–3，pp.1–4、8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给出完整算法，配合第一页即可独立汇报论文。步骤一：ESE按事件对组织输入，同句输入一个句子，跨句拼接两个句子。RoBERTa编码后平均池化事件提及token，再通过MLP预测潜在关系。步骤二：同一事件在不同事件对中具有不同向量，取均值作为超图节点初始化；以每个事件为中心合并潜在关系形成超边，构造节点乘超边的关联矩阵A。步骤三：HGNN通过A转置把节点信息聚合成超边信息，再用A回传到节点，并做节点度和超边度归一化。默认两层，超边等权。步骤四：拼接两个事件的初始向量与超图向量，得到4d维表示，经全连接层和softmax分类，训练目标为文档内事件对平均交叉熵加L2正则。训练超图模块时使用真实关系构图，测试使用ESE预测关系，阈值参数为0.7。联合识别体现在共享的结构表示学习，最终仍按事件对输出标签，并非额外的联合约束解码。</a:t>
            </a:r>
          </a:p>
          <a:p/>
          <a:p>
            <a:r>
              <a:t>原文定位：§3，Eqs.(1)–(9)、Fig.2，pp.4–6；§4.3，p.7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E不是一次编码整篇文档，而是为每个候选事件对编码相关句子。跨句事件对使用两个句子的拼接，同句事件对只输入一次原句。对提及内token做平均，得到随事件对变化的上下文表示。MLP以真实标签监督预训练，使用开发集整体F1最优的模型。构图前，同一事件在不同事件对的表示取均值，统一为一个节点向量。示意数值[1,3]和[3,5]仅用来说明平均操作，不是原文数据。论文式(3)将ReLU形式称为概率，归一化及阈值实现需要复现时核对。</a:t>
            </a:r>
          </a:p>
          <a:p/>
          <a:p>
            <a:r>
              <a:t>原文定位：§3.1、§3.2.1，pp.4–5；右上为 Fig.2 局部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超边以中心事件和其潜在因果邻居构成，中心事件也计入。关联矩阵A的每一行是事件节点，每一列是超边。例子只展示两条超边：r1以e1为中心连接e1、e2、e3，r2以e4为中心连接e2、e4。其他中心超边省略。此时e2同时属于r1和r2，成为两个组的信息桥梁。超边成员不需要两两存在直接因果关系，超边表示的是围绕共享中心组织的关系组，并非因果关系的完全图或传递闭包。</a:t>
            </a:r>
          </a:p>
          <a:p/>
          <a:p>
            <a:r>
              <a:t>原文定位：§3.2.1，Eq.(4)，p.5；矩阵例子为教学构造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沿用上页展示的两条超边，节点度为1、2、1、1，超边度为3、2。设一维节点特征[1,2,3,4]，Theta=1，所有输出均为正，因此ReLU不改变值。先按节点度归一化得到[1,1.414,3,4]，再通过A转置聚合并按超边度平均，得到r1=1.805、r2=2.707。回传给e2时，它同时接收两条超边，再除以sqrt(2)，新值为3.190。其余节点为1.805、1.805、2.707。这个例子直接遵循原文的对称归一化算子，不能简单替换成节点邻居的普通算术平均。两层使不同超边中的节点经共享事件间接关联。</a:t>
            </a:r>
          </a:p>
          <a:p/>
          <a:p>
            <a:r>
              <a:t>原文定位：§3.2.2，Eq.(5)，p.6；数值为教学计算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终事件对表示包含两个事件的初始向量和HGNN向量，共4d维。分类器是全连接层加softmax，训练目标是文档内各事件对的平均交叉熵加L2正则。保留初始向量用于补充局部上下文语义。原文训练超图模块时使用真实关系，测试时改用ESE预测关系，存在图结构的分布差异，不应误写为两个阶段都使用同一种图。论文没有完整说明所有冻结策略、批大小和训练轮数，复现时需要核对，不能在汇报中自行补成确定事实。</a:t>
            </a:r>
          </a:p>
          <a:p/>
          <a:p>
            <a:r>
              <a:t>原文定位：§3.1–3.3，Eqs.(8)–(9)，pp.5–6；Fig.2 局部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C包含258篇文档、5334个事件提及、5625个因果正例，最后两个主题作为开发集，其余20个主题五折交叉验证。English-MECI包含438篇文档、2050个因果正例，训练/开发/测试文档为263/88/87，报告五个种子均值。左表是ESC文档级基线的F1，右表为模块消融。相对每列最强文档级基线，EHNEM句内、跨句、整体分别提高0.4、11.7、10.9个百分点。去掉HGNN后跨句降到52.5，说明文档结构收益明显；相对GCN额外增益较小，为跨句1.7、整体1.3。English-MECI整体68.7但跨句仅16.2，且跨句测试正例仅32。句内DPJL在两个数据集均更强。原文未报告标准差和统计显著性检验。</a:t>
            </a:r>
          </a:p>
          <a:p/>
          <a:p>
            <a:r>
              <a:t>原文定位：§4、Tables 1–4，pp.6–9；F1 单位为 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右侧原图比较EHNEM与去掉HGNN后的模型。句内两者都识别了大部分关系，且都漏掉shield与died；跨句时，完整模型额外识别了多条共享charged的关系，符合结构关联的动机。这是定性案例，不能替代控制变量实验。阅读思考包括：训练真实图与测试预测图的分布差异；硬阈值关系误报和漏报可能放大；二值关联矩阵和等权超边没有显式区分原因/结果角色；线性HGNN传播还可以与对应加权图作更严格对照。原文提出未来按重要性对事件对因果关系不等权编码，读者可进一步考虑置信度加权、预测图混合训练与有向或角色化超边。</a:t>
            </a:r>
          </a:p>
          <a:p/>
          <a:p>
            <a:r>
              <a:t>原文定位：§3.2.1、§5.3–5.4、§6，pp.5、9–11；Fig.4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32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742950" indent="-285750" algn="l" defTabSz="457200" rtl="0" eaLnBrk="1" latinLnBrk="0" hangingPunct="1">
        <a:spcBef>
          <a:spcPct val="20000"/>
        </a:spcBef>
        <a:buFont typeface="微软雅黑" panose="020B0503020204020204" charset="-122"/>
        <a:buChar char="–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–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»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6pPr>
      <a:lvl7pPr marL="29718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7pPr>
      <a:lvl8pPr marL="34290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8pPr>
      <a:lvl9pPr marL="38862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4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9pPr>
          </a:lstStyle>
          <a:p>
            <a:pPr>
              <a:defRPr/>
            </a:pPr>
            <a:r>
              <a:rPr lang="zh-CN" altLang="en-US" sz="4800" b="0" kern="0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832" y="876909"/>
            <a:ext cx="11868912" cy="5067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 EHNEM</a:t>
            </a:r>
            <a:endParaRPr sz="24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" y="6528816"/>
            <a:ext cx="11951208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 Modeling correlated causal-effect structure with a hypergraph for document-level event causality identification (Computer Speech &amp; Language, 2025)</a:t>
            </a:r>
            <a:endParaRPr sz="1220" b="0">
              <a:solidFill>
                <a:srgbClr val="11111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6032" y="1495044"/>
            <a:ext cx="201168" cy="3909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3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83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5216" y="1481328"/>
            <a:ext cx="6071616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3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任务领域：</a:t>
            </a:r>
            <a:r>
              <a:rPr sz="183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文档级事件因果关系识别（ECI）。</a:t>
            </a:r>
            <a:endParaRPr sz="183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3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给定文档与已标注事件提及，判断句内、跨句事件对是否存在因果关系。</a:t>
            </a:r>
            <a:endParaRPr sz="183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6032" y="2418588"/>
            <a:ext cx="201168" cy="3909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3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83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5216" y="2404872"/>
            <a:ext cx="6071616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3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背景知识：</a:t>
            </a:r>
            <a:r>
              <a:rPr sz="183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1）KnowDis、LSIN 等借助外部知识，但难充分利用文档级上下文；2）RichGCN、ERGO、GESI 等以图建模事件，却未显式捕捉</a:t>
            </a:r>
            <a:r>
              <a:rPr sz="183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共享原因/结果的多条关系之间的依赖</a:t>
            </a:r>
            <a:r>
              <a:rPr sz="183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，跨句语义不连续尤其困难。</a:t>
            </a:r>
            <a:endParaRPr sz="183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6032" y="3698748"/>
            <a:ext cx="201168" cy="3909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3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83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5216" y="3685032"/>
            <a:ext cx="6071616" cy="15195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3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创新点：</a:t>
            </a:r>
            <a:r>
              <a:rPr sz="183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1）</a:t>
            </a:r>
            <a:r>
              <a:rPr sz="183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中心事件超边</a:t>
            </a:r>
            <a:r>
              <a:rPr sz="183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：将同一事件的潜在因果关系合并，刻画一因多果/多因一果；2）</a:t>
            </a:r>
            <a:r>
              <a:rPr sz="183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双模块编码</a:t>
            </a:r>
            <a:r>
              <a:rPr sz="183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：RoBERTa+MLP 获取局部语义和潜在关系，</a:t>
            </a:r>
            <a:r>
              <a:rPr lang="zh-CN" sz="183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sz="183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HGNN 联合更新相关事件表示；3）</a:t>
            </a:r>
            <a:r>
              <a:rPr sz="183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局部—结构融合</a:t>
            </a:r>
            <a:r>
              <a:rPr sz="183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：拼接初始表示与超图表示，进行事件对分类。</a:t>
            </a:r>
            <a:endParaRPr sz="183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6032" y="5372100"/>
            <a:ext cx="201168" cy="384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5216" y="5358384"/>
            <a:ext cx="6071616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效果与边界：</a:t>
            </a: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ESC 整体/跨句 F1=</a:t>
            </a: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62.8/61.0</a:t>
            </a: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，较各自最强基线提升 </a:t>
            </a: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10.9/11.7</a:t>
            </a: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个百分点；English-MECI 整体 F1=</a:t>
            </a: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68.7</a:t>
            </a: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。句内结果仍低于 DPJL。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Picture 19" descr="paper_head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2" y="777240"/>
            <a:ext cx="5367528" cy="1290049"/>
          </a:xfrm>
          <a:prstGeom prst="rect">
            <a:avLst/>
          </a:prstGeom>
        </p:spPr>
      </p:pic>
      <p:pic>
        <p:nvPicPr>
          <p:cNvPr id="21" name="Picture 20" descr="fi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4" y="2262717"/>
            <a:ext cx="5129784" cy="358529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67728" y="5925312"/>
            <a:ext cx="5038344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1：</a:t>
            </a:r>
            <a:r>
              <a:rPr sz="153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共享事件 accused 可关联多个原因/结果；句内关系可为跨句识别提供线索。</a:t>
            </a:r>
            <a:endParaRPr sz="153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4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9pPr>
          </a:lstStyle>
          <a:p>
            <a:pPr>
              <a:defRPr/>
            </a:pPr>
            <a:r>
              <a:rPr lang="zh-CN" altLang="en-US" sz="4800" b="0" kern="0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832" y="876909"/>
            <a:ext cx="11868912" cy="5067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 The proposed model -- EHNEM</a:t>
            </a:r>
            <a:endParaRPr sz="24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" y="6528816"/>
            <a:ext cx="11951208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 Modeling correlated causal-effect structure with a hypergraph for document-level event causality identification (Computer Speech &amp; Language, 2025)</a:t>
            </a:r>
            <a:endParaRPr sz="1220" b="0">
              <a:solidFill>
                <a:srgbClr val="11111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6032" y="1495044"/>
            <a:ext cx="201168" cy="3868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81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5216" y="1481328"/>
            <a:ext cx="4681728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1：事件语义编码。</a:t>
            </a:r>
            <a:r>
              <a:rPr lang="zh-CN" sz="181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提取包含</a:t>
            </a:r>
            <a:r>
              <a:rPr lang="en-US" altLang="zh-CN" sz="181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(ei,ej)</a:t>
            </a:r>
            <a:r>
              <a:rPr lang="zh-CN" altLang="en-US" sz="181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的句子</a:t>
            </a:r>
            <a:r>
              <a:rPr sz="181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；RoBERTa 编码后，对提及内 token 取均值，以 MLP 预测潜在因果关系。</a:t>
            </a:r>
            <a:endParaRPr sz="181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6032" y="2455164"/>
            <a:ext cx="201168" cy="3868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81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5216" y="2441448"/>
            <a:ext cx="4681728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2：事件超图构建。</a:t>
            </a:r>
            <a:r>
              <a:rPr sz="181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同一事件在不同事件对中的向量取均值，作为初始节点；将其潜在因果关系合并为超边，构造关联矩阵 </a:t>
            </a:r>
            <a:r>
              <a:rPr sz="181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81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1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6032" y="3579876"/>
            <a:ext cx="201168" cy="3868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81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5216" y="3566160"/>
            <a:ext cx="4681728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3：超图关联学习。</a:t>
            </a:r>
            <a:r>
              <a:rPr sz="181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两层 HGNN 进行“</a:t>
            </a:r>
            <a:r>
              <a:rPr sz="181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节点→超边→节点</a:t>
            </a:r>
            <a:r>
              <a:rPr sz="181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”传播，学习文档内相关事件的结构表示：</a:t>
            </a:r>
            <a:endParaRPr sz="181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Picture 17" descr="eq_hgnn_t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4462272"/>
            <a:ext cx="4164177" cy="6035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" y="5120640"/>
            <a:ext cx="459028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D_e、D_r：节点度 / 超边度；I：单位阵。</a:t>
            </a:r>
            <a:endParaRPr sz="153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6032" y="5500116"/>
            <a:ext cx="20116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76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5216" y="5486400"/>
            <a:ext cx="4681728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4：融合分类。</a:t>
            </a:r>
            <a:r>
              <a:rPr sz="176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拼接初始表示与超图表示，经 FC+Softmax 二分类；按文档优化交叉熵与 L2 正则。</a:t>
            </a:r>
            <a:endParaRPr sz="176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Picture 21" descr="fig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625" y="777240"/>
            <a:ext cx="6641287" cy="401212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58384" y="4951476"/>
            <a:ext cx="20116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7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87568" y="4937760"/>
            <a:ext cx="6318503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机制分析：</a:t>
            </a:r>
            <a:r>
              <a:rPr sz="17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一个事件同时属于多条超边，可连接不同因果事件组；共享表示使不同事件对的关系预测相互借助。</a:t>
            </a:r>
            <a:endParaRPr sz="17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58384" y="5701283"/>
            <a:ext cx="20116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7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87568" y="5687568"/>
            <a:ext cx="6318503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训练/测试差异：</a:t>
            </a:r>
            <a:r>
              <a:rPr sz="17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训练用真实关系构图；测试用 ESE 预测关系（阈值 </a:t>
            </a:r>
            <a:r>
              <a:rPr sz="178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0.7</a:t>
            </a:r>
            <a:r>
              <a:rPr sz="17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）。最终保留初始表示，补充局部上下文信息。</a:t>
            </a:r>
            <a:endParaRPr sz="17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4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9pPr>
          </a:lstStyle>
          <a:p>
            <a:pPr>
              <a:defRPr/>
            </a:pPr>
            <a:r>
              <a:rPr lang="zh-CN" altLang="en-US" sz="4800" b="0" kern="0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832" y="876909"/>
            <a:ext cx="11868912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 事件语义编码与节点初始化</a:t>
            </a:r>
            <a:endParaRPr sz="24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" y="6528816"/>
            <a:ext cx="11951208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 Modeling correlated causal-effect structure with a hypergraph for document-level event causality identification (Computer Speech &amp; Language, 2025)</a:t>
            </a:r>
            <a:endParaRPr sz="1220" b="0">
              <a:solidFill>
                <a:srgbClr val="11111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6032" y="1495044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5216" y="1481328"/>
            <a:ext cx="5294376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输入组织：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事件对 x_k=(e_i,e_j)；同句时输入 S_i，跨句时拼接 [S_i;S_j]。事件提及来自已有标注。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6032" y="2574036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5216" y="2560320"/>
            <a:ext cx="5294376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编码与池化：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RoBERTa 输出 token 隐状态；仅对事件提及内 token 求均值，上下文语义已进入隐状态。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2376" y="3675887"/>
            <a:ext cx="5020056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H_k = RoBERTa(T(x_k))</a:t>
            </a:r>
            <a:endParaRPr sz="21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e_i,k = MeanPool(H_k[event i])</a:t>
            </a:r>
            <a:endParaRPr sz="21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6032" y="4741164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5216" y="4727448"/>
            <a:ext cx="5294376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潜在关系：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[e_i,k;e_j,k] → MLP → Rel_k。ESE 先用真实标签监督训练，按开发集整体 F1 选模。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Picture 19" descr="fig2_e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616964"/>
            <a:ext cx="5833872" cy="9723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91072" y="2980944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同一事件在不同上下文中，会有不同表示</a:t>
            </a:r>
            <a:endParaRPr sz="19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309360" y="3685032"/>
          <a:ext cx="5422392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44952"/>
              </a:tblGrid>
              <a:tr h="4663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事件对上下文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 e_i 的表示（示意）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4472C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(e_i, e_j)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[1, 3]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(e_i, e_t)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[3, 5]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19088" y="5394960"/>
            <a:ext cx="5157216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统一节点：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Mean([1,3], [3,5]) = [2,4]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得到超图初始节点矩阵 E^(0)。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4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9pPr>
          </a:lstStyle>
          <a:p>
            <a:pPr>
              <a:defRPr/>
            </a:pPr>
            <a:r>
              <a:rPr lang="zh-CN" altLang="en-US" sz="4800" b="0" kern="0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832" y="876909"/>
            <a:ext cx="11868912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 从潜在关系到超边与关联矩阵</a:t>
            </a:r>
            <a:endParaRPr sz="24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" y="6528816"/>
            <a:ext cx="11951208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 Modeling correlated causal-effect structure with a hypergraph for document-level event causality identification (Computer Speech &amp; Language, 2025)</a:t>
            </a:r>
            <a:endParaRPr sz="1220" b="0">
              <a:solidFill>
                <a:srgbClr val="11111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6032" y="1495044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5216" y="1481328"/>
            <a:ext cx="52395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事件提及；初始化为 ESE 中同一事件的多份上下文表示的均值。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6032" y="2619756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5216" y="2606040"/>
            <a:ext cx="523951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超边：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对每个中心事件，将中心及其潜在因果邻居合并，显式组织相关因果关系。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4974336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 e1：r1 = {e1, e2, e3}</a:t>
            </a:r>
            <a:endParaRPr sz="23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 e4：r2 = {e2, e4}</a:t>
            </a:r>
            <a:endParaRPr sz="23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6032" y="4814316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5216" y="4800600"/>
            <a:ext cx="5239512" cy="1106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仅展示其中两条超边；超边内事件</a:t>
            </a: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无需两两有因果关系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，也不表示因果关系必然可传递。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81928" y="1508760"/>
            <a:ext cx="5468112" cy="425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关联矩阵 A：行 = 事件；列 = 超边</a:t>
            </a:r>
            <a:endParaRPr sz="20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318504" y="2167128"/>
          <a:ext cx="5367528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248"/>
                <a:gridCol w="1691640"/>
                <a:gridCol w="1691640"/>
              </a:tblGrid>
              <a:tr h="5577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endParaRPr sz="2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r1</a:t>
                      </a:r>
                      <a:endParaRPr sz="2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</a:t>
                      </a:r>
                      <a:endParaRPr sz="2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4472C4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e1</a:t>
                      </a:r>
                      <a:endParaRPr sz="21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21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21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e2</a:t>
                      </a:r>
                      <a:endParaRPr sz="210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210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210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EDF3FB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e3</a:t>
                      </a:r>
                      <a:endParaRPr sz="21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21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21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e4</a:t>
                      </a:r>
                      <a:endParaRPr sz="21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21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21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9944" y="5266944"/>
            <a:ext cx="513892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A(e,r)=1：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 e 属于超边 r。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 的作用：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同时参与两组聚合，关联两组事件的结构证据。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4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9pPr>
          </a:lstStyle>
          <a:p>
            <a:pPr>
              <a:defRPr/>
            </a:pPr>
            <a:r>
              <a:rPr lang="zh-CN" altLang="en-US" sz="4800" b="0" kern="0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832" y="876909"/>
            <a:ext cx="11868912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 HGNN 的一次传播如何计算？</a:t>
            </a:r>
            <a:endParaRPr sz="24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" y="6528816"/>
            <a:ext cx="11951208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 Modeling correlated causal-effect structure with a hypergraph for document-level event causality identification (Computer Speech &amp; Language, 2025)</a:t>
            </a:r>
            <a:endParaRPr sz="1220" b="0">
              <a:solidFill>
                <a:srgbClr val="11111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6032" y="1513331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5216" y="1499616"/>
            <a:ext cx="52578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设定：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沿用两条超边；节点特征为 [1,2,3,4]，Theta=1；节点度为 [1,2,1,1]，超边度为 [3,2]。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6032" y="2729484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5216" y="2715768"/>
            <a:ext cx="5257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1）节点归一化：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 D_e^(-1/2)，得到 [1,1.414,3,4]。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6032" y="3753611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5216" y="3739896"/>
            <a:ext cx="5257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2）汇入超边：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的转置聚合，D_r 的逆按超边度归一化。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4626864"/>
            <a:ext cx="4919472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r1 = (1+1.414+3)/3 = 1.805</a:t>
            </a:r>
            <a:endParaRPr sz="21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r2 = (1.414+4)/2 = 2.707</a:t>
            </a:r>
            <a:endParaRPr sz="21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为单位阵：超边等权；激活函数为 ReLU。</a:t>
            </a:r>
            <a:endParaRPr sz="16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Picture 19" descr="eq_hgnn_t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985" y="1508760"/>
            <a:ext cx="5110581" cy="7406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89904" y="2610612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19088" y="2596896"/>
            <a:ext cx="550468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3）回传到节点：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汇集相关超边，再做节点度归一化。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3511296"/>
            <a:ext cx="5102352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 新表示 = (r1+r2)/sqrt(2)</a:t>
            </a:r>
            <a:endParaRPr sz="23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= </a:t>
            </a:r>
            <a:r>
              <a:rPr sz="23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3.19</a:t>
            </a:r>
            <a:endParaRPr sz="23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89904" y="4622292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19088" y="4608576"/>
            <a:ext cx="5504688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两层的意义：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在示意图中，e1 与 e4 不共享所展示的超边，但可经 </a:t>
            </a: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 → r1 → e2 → r2 → e4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间接交换信息；真实模型传播向量特征。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92240" y="6099048"/>
            <a:ext cx="5084064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数值为讲解示例，并非原文实验结果。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4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9pPr>
          </a:lstStyle>
          <a:p>
            <a:pPr>
              <a:defRPr/>
            </a:pPr>
            <a:r>
              <a:rPr lang="zh-CN" altLang="en-US" sz="4800" b="0" kern="0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832" y="876909"/>
            <a:ext cx="11868912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 表示融合、训练目标与推理流程</a:t>
            </a:r>
            <a:endParaRPr sz="24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" y="6528816"/>
            <a:ext cx="11951208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 Modeling correlated causal-effect structure with a hypergraph for document-level event causality identification (Computer Speech &amp; Language, 2025)</a:t>
            </a:r>
            <a:endParaRPr sz="1220" b="0">
              <a:solidFill>
                <a:srgbClr val="11111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6032" y="1504187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5216" y="1490472"/>
            <a:ext cx="5248655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融合表示：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拼接两个事件的初始表示与超图表示，既保留局部语义，也加入文档结构信息。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2706624"/>
            <a:ext cx="5001768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v_k = [e_i^(0);e_j^(0);</a:t>
            </a:r>
            <a:endParaRPr sz="21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e_i^(L);e_j^(L)]，维度 4d</a:t>
            </a:r>
            <a:endParaRPr sz="21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Picture 14" descr="eq_classifi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3831336"/>
            <a:ext cx="4910328" cy="466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6032" y="4567428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5216" y="4553712"/>
            <a:ext cx="5248655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训练目标：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文档内事件对的平均交叉熵，加 L2 正则项。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Picture 17" descr="eq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419490"/>
            <a:ext cx="5175504" cy="746466"/>
          </a:xfrm>
          <a:prstGeom prst="rect">
            <a:avLst/>
          </a:prstGeom>
        </p:spPr>
      </p:pic>
      <p:pic>
        <p:nvPicPr>
          <p:cNvPr id="19" name="Picture 18" descr="fig2_class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566671"/>
            <a:ext cx="5824728" cy="11094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89904" y="2994660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19088" y="2980944"/>
            <a:ext cx="5532120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先训练 ESE；超图模块使用</a:t>
            </a: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真实关系图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学习事件表示与分类。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89904" y="4073652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19088" y="4059936"/>
            <a:ext cx="55321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编码事件对 → MLP 预测关系 → 节点表示取均值 → 构造超边与 A → 两层 HGNN → 拼接表示 → 标签。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89904" y="5536692"/>
            <a:ext cx="201168" cy="394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8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19088" y="5522976"/>
            <a:ext cx="553212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关键差异：</a:t>
            </a:r>
            <a:r>
              <a:rPr sz="1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测试使用</a:t>
            </a:r>
            <a:r>
              <a:rPr sz="18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预测关系图</a:t>
            </a:r>
            <a:r>
              <a:rPr sz="1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；需关注误报、漏报对后续结构传播的影响。</a:t>
            </a:r>
            <a:endParaRPr sz="18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4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9pPr>
          </a:lstStyle>
          <a:p>
            <a:pPr>
              <a:defRPr/>
            </a:pPr>
            <a:r>
              <a:rPr lang="zh-CN" altLang="en-US" sz="4800" b="0" kern="0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832" y="876909"/>
            <a:ext cx="11868912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 主要结果、模块消融与实验边界</a:t>
            </a:r>
            <a:endParaRPr sz="24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" y="6528816"/>
            <a:ext cx="11951208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 Modeling correlated causal-effect structure with a hypergraph for document-level event causality identification (Computer Speech &amp; Language, 2025)</a:t>
            </a:r>
            <a:endParaRPr sz="1220" b="0">
              <a:solidFill>
                <a:srgbClr val="11111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9496" y="1490472"/>
            <a:ext cx="5486400" cy="425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ESC：文档级基线比较</a:t>
            </a:r>
            <a:endParaRPr sz="20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2048256"/>
          <a:ext cx="5495544" cy="3209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384"/>
                <a:gridCol w="1188720"/>
                <a:gridCol w="1188720"/>
                <a:gridCol w="1188720"/>
              </a:tblGrid>
              <a:tr h="4585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  <a:endParaRPr sz="17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句内</a:t>
                      </a:r>
                      <a:endParaRPr sz="17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跨句</a:t>
                      </a:r>
                      <a:endParaRPr sz="17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整体</a:t>
                      </a:r>
                      <a:endParaRPr sz="17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4472C4"/>
                    </a:solidFill>
                  </a:tcPr>
                </a:tc>
              </a:tr>
              <a:tr h="4585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RichGCN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55.2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42.2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46.6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</a:tr>
              <a:tr h="4585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GESI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50.3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49.3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49.4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7F7F7"/>
                    </a:solidFill>
                  </a:tcPr>
                </a:tc>
              </a:tr>
              <a:tr h="4585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ERGO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63.9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47.1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50.9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</a:tr>
              <a:tr h="4585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CHEER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62.6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48.4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51.4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7F7F7"/>
                    </a:solidFill>
                  </a:tcPr>
                </a:tc>
              </a:tr>
              <a:tr h="4585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SENDIR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66.2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48.3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51.9</a:t>
                      </a:r>
                      <a:endParaRPr sz="17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</a:tr>
              <a:tr h="4585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EHNEM</a:t>
                      </a:r>
                      <a:endParaRPr sz="175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66.6</a:t>
                      </a:r>
                      <a:endParaRPr sz="175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61.0</a:t>
                      </a:r>
                      <a:endParaRPr sz="175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5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62.8</a:t>
                      </a:r>
                      <a:endParaRPr sz="175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67512" y="54864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相对各列最强基线：</a:t>
            </a:r>
            <a:r>
              <a:rPr sz="17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+0.4 / +11.7 / +10.9</a:t>
            </a:r>
            <a:r>
              <a:rPr sz="17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7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ESC：2 个开发主题；其余 20 个主题做 5 折。</a:t>
            </a:r>
            <a:endParaRPr sz="17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1490472"/>
            <a:ext cx="5367528" cy="425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ESC：模块消融</a:t>
            </a:r>
            <a:endParaRPr sz="20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28232" y="2048256"/>
          <a:ext cx="5248656" cy="1984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6"/>
                <a:gridCol w="1417320"/>
                <a:gridCol w="1417320"/>
              </a:tblGrid>
              <a:tr h="49606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跨句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整体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4472C4"/>
                    </a:solidFill>
                  </a:tcPr>
                </a:tc>
              </a:tr>
              <a:tr h="49606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仅局部语义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52.5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56.7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FFFFF"/>
                    </a:solidFill>
                  </a:tcPr>
                </a:tc>
              </a:tr>
              <a:tr h="49606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换为 GCN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59.3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61.5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F7F7F7"/>
                    </a:solidFill>
                  </a:tcPr>
                </a:tc>
              </a:tr>
              <a:tr h="49606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 EHNEM</a:t>
                      </a:r>
                      <a:endParaRPr sz="180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61.0</a:t>
                      </a:r>
                      <a:endParaRPr sz="180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62.8</a:t>
                      </a:r>
                      <a:endParaRPr sz="180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27432" marB="18288" anchor="ctr"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190488" y="4338828"/>
            <a:ext cx="201168" cy="384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19672" y="4325112"/>
            <a:ext cx="532180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English-MECI：</a:t>
            </a: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 F1=68.7，跨句仅16.2；跨句测试正例只有 </a:t>
            </a: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个。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90488" y="5390388"/>
            <a:ext cx="201168" cy="384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19672" y="5376672"/>
            <a:ext cx="5321807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边界：</a:t>
            </a: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句内 DPJL 更强；原文未报告标准差或显著性检验，整体提升不等于跨句问题已解决。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4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微软雅黑" panose="020B0503020204020204" charset="-122"/>
              </a:defRPr>
            </a:lvl9pPr>
          </a:lstStyle>
          <a:p>
            <a:pPr>
              <a:defRPr/>
            </a:pPr>
            <a:r>
              <a:rPr lang="zh-CN" altLang="en-US" sz="4800" b="0" kern="0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832" y="876909"/>
            <a:ext cx="11868912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  </a:t>
            </a:r>
            <a:r>
              <a:rPr lang="zh-CN" sz="24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</a:t>
            </a:r>
            <a:r>
              <a:rPr sz="24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、局限与后续启发</a:t>
            </a:r>
            <a:endParaRPr sz="24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" y="6528816"/>
            <a:ext cx="11951208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 Modeling correlated causal-effect structure with a hypergraph for document-level event causality identification (Computer Speech &amp; Language, 2025)</a:t>
            </a:r>
            <a:endParaRPr sz="1220" b="0">
              <a:solidFill>
                <a:srgbClr val="11111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1"/>
            </p:custDataLst>
          </p:nvPr>
        </p:nvSpPr>
        <p:spPr>
          <a:xfrm>
            <a:off x="256032" y="1513331"/>
            <a:ext cx="201168" cy="4010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8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585216" y="1499616"/>
            <a:ext cx="5221224" cy="6242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方法价值：</a:t>
            </a:r>
            <a:r>
              <a:rPr sz="18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把“共享事件的多条关系”组织为结构证据，帮助局部预测。</a:t>
            </a:r>
            <a:endParaRPr sz="18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256032" y="2665476"/>
            <a:ext cx="201168" cy="4010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8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4"/>
            </p:custDataLst>
          </p:nvPr>
        </p:nvSpPr>
        <p:spPr>
          <a:xfrm>
            <a:off x="585216" y="2651760"/>
            <a:ext cx="5221224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构图噪声：</a:t>
            </a:r>
            <a:r>
              <a:rPr sz="18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训练真实图、测试预测图可能带来分布差异；误报会引入无关聚合，漏报会丢失结构线索。</a:t>
            </a:r>
            <a:endParaRPr sz="18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256032" y="3835907"/>
            <a:ext cx="201168" cy="4010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8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585216" y="3822191"/>
            <a:ext cx="5221224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结构边界：</a:t>
            </a:r>
            <a:r>
              <a:rPr sz="18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二值关联与等权超边没有在传播算子中显式区分原因/结果角色，可补充有向结构与加权图对照。</a:t>
            </a:r>
            <a:endParaRPr sz="18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256032" y="5024628"/>
            <a:ext cx="201168" cy="4010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8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585216" y="5010912"/>
            <a:ext cx="5221224" cy="1225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后续启发：</a:t>
            </a:r>
            <a:r>
              <a:rPr sz="188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置信度加权超边、真实图与预测图混合训练、构图噪声扰动实验。原文未来工作是按重要性不等权编码因果关系。</a:t>
            </a:r>
            <a:endParaRPr sz="188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Picture 19" descr="fig4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2472" y="1591463"/>
            <a:ext cx="5971032" cy="18096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2472" y="3771900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91656" y="3758184"/>
            <a:ext cx="5623559" cy="923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句内：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两模型都识别大多数关系，均漏掉 (shield, died)。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62472" y="4823459"/>
            <a:ext cx="201168" cy="4051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91656" y="4809744"/>
            <a:ext cx="5623559" cy="1106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跨句：</a:t>
            </a:r>
            <a:r>
              <a:rPr sz="19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完整模型补充多条共享 charged 的关系，说明相关事件结构可提供额外证据。</a:t>
            </a:r>
            <a:endParaRPr sz="19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2.9599999999999,&quot;left&quot;:20.16,&quot;top&quot;:118.08,&quot;width&quot;:437.03999999999996}"/>
</p:tagLst>
</file>

<file path=ppt/tags/tag2.xml><?xml version="1.0" encoding="utf-8"?>
<p:tagLst xmlns:p="http://schemas.openxmlformats.org/presentationml/2006/main">
  <p:tag name="KSO_WM_DIAGRAM_VIRTUALLY_FRAME" val="{&quot;height&quot;:372.9599999999999,&quot;left&quot;:20.16,&quot;top&quot;:118.08,&quot;width&quot;:437.03999999999996}"/>
</p:tagLst>
</file>

<file path=ppt/tags/tag3.xml><?xml version="1.0" encoding="utf-8"?>
<p:tagLst xmlns:p="http://schemas.openxmlformats.org/presentationml/2006/main">
  <p:tag name="KSO_WM_DIAGRAM_VIRTUALLY_FRAME" val="{&quot;height&quot;:372.9599999999999,&quot;left&quot;:20.16,&quot;top&quot;:118.08,&quot;width&quot;:437.03999999999996}"/>
</p:tagLst>
</file>

<file path=ppt/tags/tag4.xml><?xml version="1.0" encoding="utf-8"?>
<p:tagLst xmlns:p="http://schemas.openxmlformats.org/presentationml/2006/main">
  <p:tag name="KSO_WM_DIAGRAM_VIRTUALLY_FRAME" val="{&quot;height&quot;:372.9599999999999,&quot;left&quot;:20.16,&quot;top&quot;:118.08,&quot;width&quot;:437.03999999999996}"/>
</p:tagLst>
</file>

<file path=ppt/tags/tag5.xml><?xml version="1.0" encoding="utf-8"?>
<p:tagLst xmlns:p="http://schemas.openxmlformats.org/presentationml/2006/main">
  <p:tag name="KSO_WM_DIAGRAM_VIRTUALLY_FRAME" val="{&quot;height&quot;:372.9599999999999,&quot;left&quot;:20.16,&quot;top&quot;:118.08,&quot;width&quot;:437.03999999999996}"/>
</p:tagLst>
</file>

<file path=ppt/tags/tag6.xml><?xml version="1.0" encoding="utf-8"?>
<p:tagLst xmlns:p="http://schemas.openxmlformats.org/presentationml/2006/main">
  <p:tag name="KSO_WM_DIAGRAM_VIRTUALLY_FRAME" val="{&quot;height&quot;:372.9599999999999,&quot;left&quot;:20.16,&quot;top&quot;:118.08,&quot;width&quot;:437.03999999999996}"/>
</p:tagLst>
</file>

<file path=ppt/tags/tag7.xml><?xml version="1.0" encoding="utf-8"?>
<p:tagLst xmlns:p="http://schemas.openxmlformats.org/presentationml/2006/main">
  <p:tag name="KSO_WM_DIAGRAM_VIRTUALLY_FRAME" val="{&quot;height&quot;:372.9599999999999,&quot;left&quot;:20.16,&quot;top&quot;:118.08,&quot;width&quot;:437.03999999999996}"/>
</p:tagLst>
</file>

<file path=ppt/tags/tag8.xml><?xml version="1.0" encoding="utf-8"?>
<p:tagLst xmlns:p="http://schemas.openxmlformats.org/presentationml/2006/main">
  <p:tag name="KSO_WM_DIAGRAM_VIRTUALLY_FRAME" val="{&quot;height&quot;:372.9599999999999,&quot;left&quot;:20.16,&quot;top&quot;:118.08,&quot;width&quot;:437.0399999999999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ajorFont>
      <a:min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ajorFont>
      <a:min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3961</Words>
  <Application>WPS 演示</Application>
  <PresentationFormat>On-screen Show (4:3)</PresentationFormat>
  <Paragraphs>347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黑体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EHNEM论文阅读汇报：示例排版8页（前2页独立汇报）</dc:title>
  <dc:creator/>
  <dc:description>generated using python-pptx</dc:description>
  <dc:subject>前两页完整概括任务、背景、创新与算法；后六页扩展</dc:subject>
  <cp:lastModifiedBy>Flechazo</cp:lastModifiedBy>
  <cp:revision>4</cp:revision>
  <dcterms:created xsi:type="dcterms:W3CDTF">2013-01-27T09:14:00Z</dcterms:created>
  <dcterms:modified xsi:type="dcterms:W3CDTF">2026-10-22T16:48:40Z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80783CCD5A3D4916AF1AFEE4DBFA5F70_12</vt:lpwstr>
  </property>
</Properties>
</file>