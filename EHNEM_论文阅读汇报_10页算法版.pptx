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8b9f654a144125" /><Relationship Type="http://schemas.openxmlformats.org/officeDocument/2006/relationships/extended-properties" Target="/docProps/app.xml" Id="R2858f89f9b98444f" /><Relationship Type="http://schemas.openxmlformats.org/officeDocument/2006/relationships/officeDocument" Target="/ppt/presentation.xml" Id="Rc7665476e54d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04c813c514011"/>
  </p:sldMasterIdLst>
  <p:notesMasterIdLst>
    <p:notesMasterId xmlns:r="http://schemas.openxmlformats.org/officeDocument/2006/relationships" r:id="Rd5deff3b6bb64d06"/>
  </p:notesMasterIdLst>
  <p:sldIdLst>
    <p:sldId xmlns:r="http://schemas.openxmlformats.org/officeDocument/2006/relationships" id="256" r:id="Rfe63978946b74a85"/>
    <p:sldId xmlns:r="http://schemas.openxmlformats.org/officeDocument/2006/relationships" id="257" r:id="R03633e9311314052"/>
    <p:sldId xmlns:r="http://schemas.openxmlformats.org/officeDocument/2006/relationships" id="258" r:id="R31033ca4832f4152"/>
    <p:sldId xmlns:r="http://schemas.openxmlformats.org/officeDocument/2006/relationships" id="259" r:id="R808cc403d15f47a2"/>
    <p:sldId xmlns:r="http://schemas.openxmlformats.org/officeDocument/2006/relationships" id="260" r:id="R500a2963fb564216"/>
    <p:sldId xmlns:r="http://schemas.openxmlformats.org/officeDocument/2006/relationships" id="261" r:id="Rc66fba0895ff4220"/>
    <p:sldId xmlns:r="http://schemas.openxmlformats.org/officeDocument/2006/relationships" id="262" r:id="R84ae1d99232b4ba9"/>
    <p:sldId xmlns:r="http://schemas.openxmlformats.org/officeDocument/2006/relationships" id="263" r:id="R96924c3ba325448e"/>
    <p:sldId xmlns:r="http://schemas.openxmlformats.org/officeDocument/2006/relationships" id="264" r:id="R94dc908b77a343eb"/>
    <p:sldId xmlns:r="http://schemas.openxmlformats.org/officeDocument/2006/relationships" id="265" r:id="R68c58813bd4c4b93"/>
  </p:sldIdLst>
  <p:sldSz cx="12191999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c44364369a465d" /><Relationship Type="http://schemas.openxmlformats.org/officeDocument/2006/relationships/slideMaster" Target="/ppt/slideMasters/slideMaster1.xml" Id="Ra7d04c813c514011" /><Relationship Type="http://schemas.openxmlformats.org/officeDocument/2006/relationships/notesMaster" Target="/ppt/notesMasters/notesMaster1.xml" Id="Rd5deff3b6bb64d06" /><Relationship Type="http://schemas.openxmlformats.org/officeDocument/2006/relationships/presProps" Target="/ppt/presProps.xml" Id="Rc61fd315a1ed4fd6" /><Relationship Type="http://schemas.openxmlformats.org/officeDocument/2006/relationships/viewProps" Target="/ppt/viewProps.xml" Id="Rb732f95f93614da0" /><Relationship Type="http://schemas.openxmlformats.org/officeDocument/2006/relationships/tableStyles" Target="/ppt/tableStyles.xml" Id="R740fafec93de4a90" /><Relationship Type="http://schemas.openxmlformats.org/officeDocument/2006/relationships/slide" Target="/ppt/slides/slide1.xml" Id="Rfe63978946b74a85" /><Relationship Type="http://schemas.openxmlformats.org/officeDocument/2006/relationships/slide" Target="/ppt/slides/slide2.xml" Id="R03633e9311314052" /><Relationship Type="http://schemas.openxmlformats.org/officeDocument/2006/relationships/slide" Target="/ppt/slides/slide3.xml" Id="R31033ca4832f4152" /><Relationship Type="http://schemas.openxmlformats.org/officeDocument/2006/relationships/slide" Target="/ppt/slides/slide4.xml" Id="R808cc403d15f47a2" /><Relationship Type="http://schemas.openxmlformats.org/officeDocument/2006/relationships/slide" Target="/ppt/slides/slide5.xml" Id="R500a2963fb564216" /><Relationship Type="http://schemas.openxmlformats.org/officeDocument/2006/relationships/slide" Target="/ppt/slides/slide6.xml" Id="Rc66fba0895ff4220" /><Relationship Type="http://schemas.openxmlformats.org/officeDocument/2006/relationships/slide" Target="/ppt/slides/slide7.xml" Id="R84ae1d99232b4ba9" /><Relationship Type="http://schemas.openxmlformats.org/officeDocument/2006/relationships/slide" Target="/ppt/slides/slide8.xml" Id="R96924c3ba325448e" /><Relationship Type="http://schemas.openxmlformats.org/officeDocument/2006/relationships/slide" Target="/ppt/slides/slide9.xml" Id="R94dc908b77a343eb" /><Relationship Type="http://schemas.openxmlformats.org/officeDocument/2006/relationships/slide" Target="/ppt/slides/slide10.xml" Id="R68c58813bd4c4b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377866422f4e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1263c4aa64a26" /><Relationship Type="http://schemas.openxmlformats.org/officeDocument/2006/relationships/notesMaster" Target="/ppt/notesMasters/notesMaster1.xml" Id="R0cd340b6e18646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aea4d86834c7d" /><Relationship Type="http://schemas.openxmlformats.org/officeDocument/2006/relationships/notesMaster" Target="/ppt/notesMasters/notesMaster1.xml" Id="Raead802eed6547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7cbce907844b5" /><Relationship Type="http://schemas.openxmlformats.org/officeDocument/2006/relationships/notesMaster" Target="/ppt/notesMasters/notesMaster1.xml" Id="R03b8f4f1edeb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74d69194294160" /><Relationship Type="http://schemas.openxmlformats.org/officeDocument/2006/relationships/notesMaster" Target="/ppt/notesMasters/notesMaster1.xml" Id="Rb4d7ccd18bca47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d0ff4318ac464f" /><Relationship Type="http://schemas.openxmlformats.org/officeDocument/2006/relationships/notesMaster" Target="/ppt/notesMasters/notesMaster1.xml" Id="R69176fcea42b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111c1c60eb49ed" /><Relationship Type="http://schemas.openxmlformats.org/officeDocument/2006/relationships/notesMaster" Target="/ppt/notesMasters/notesMaster1.xml" Id="Rd361920276c74d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484932550645ad" /><Relationship Type="http://schemas.openxmlformats.org/officeDocument/2006/relationships/notesMaster" Target="/ppt/notesMasters/notesMaster1.xml" Id="R072211889255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a3d00e673b4c38" /><Relationship Type="http://schemas.openxmlformats.org/officeDocument/2006/relationships/notesMaster" Target="/ppt/notesMasters/notesMaster1.xml" Id="Rc128fcc3e37c4c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5c8323ee494d5f" /><Relationship Type="http://schemas.openxmlformats.org/officeDocument/2006/relationships/notesMaster" Target="/ppt/notesMasters/notesMaster1.xml" Id="R06dfeb12fe8c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bb1deea1cf455c" /><Relationship Type="http://schemas.openxmlformats.org/officeDocument/2006/relationships/notesMaster" Target="/ppt/notesMasters/notesMaster1.xml" Id="Rb3c897865d34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本次汇报以算法为重点。EHNEM 是 Event-Hypergraph Neural Encoding Model，用于文档级事件因果关系识别。输入为文档及已标注事件提及，输出为候选事件对的因果/非因果标签。一个事件可能关联多个原因或结果，因此不同事件对并非完全独立。作者以共享事件为中心构建超边，先让组内事件共享信息，再预测事件对标签。右图为讲解示意，连线仅表示因果关联，不表达方向。期刊卷年为2025，在线发表于2024年11月。</a:t>
            </a:r>
          </a:p>
          <a:p xmlns:a="http://schemas.openxmlformats.org/drawingml/2006/main"/>
          <a:p xmlns:a="http://schemas.openxmlformats.org/drawingml/2006/main">
            <a:r>
              <a:t>原文定位：摘要、§1，pp.1–3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沿原图看一遍数据流。第一步，对每个事件对所在的一个或两个句子进行RoBERTa编码，取得事件表示；第二步，MLP预测潜在因果关系，并把同一事件在不同事件对中的表示平均为一个节点；第三步，以事件为中心合并潜在关系，得到文档级事件超图，利用两层HGNN更新节点；第四步，拼接初始表示和结构表示，输出因果标签。需要注意，语言模型并非一次编码全文，文档级信息是在超图聚合中汇合的。后面的页面按这四步展开。</a:t>
            </a:r>
          </a:p>
          <a:p xmlns:a="http://schemas.openxmlformats.org/drawingml/2006/main"/>
          <a:p xmlns:a="http://schemas.openxmlformats.org/drawingml/2006/main">
            <a:r>
              <a:t>原文定位：§3 与 Fig.2，pp.4–6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对x_k由两个事件提及组成。同句时只输入该句；跨句时拼接两个事件各自所在句子。RoBERTa输出每个token的隐状态，事件向量取事件提及内部token隐状态的平均值。虽然只池化事件提及，这些隐状态已经融合输入句子上下文。图中以rammed和smashing作为讲解事件；这是简化输入示意，不是原文完整分词或特殊标记实现。此时表示仍随事件对上下文变化，同一事件与不同搭档组合时可能得到不同向量。</a:t>
            </a:r>
          </a:p>
          <a:p xmlns:a="http://schemas.openxmlformats.org/drawingml/2006/main"/>
          <a:p xmlns:a="http://schemas.openxmlformats.org/drawingml/2006/main">
            <a:r>
              <a:t>原文定位：§3.1，Eqs.(1)–(2)，p.4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E有两个输出。一个是事件对的潜在因果关系：拼接两个事件向量，经MLP得到分数，预测结果供测试阶段构图。论文报告构图阈值为0.7，但式(3)用ReLU写出所谓概率，复现时还需要确认归一化与阈值细节。另一个是节点初始化：同一事件在多个事件对中出现，会得到多个上下文向量，取均值得到唯一的超图节点表示。右侧数值仅用于解释平均操作，不是论文实验数据。ESE先以真实标签训练，并按开发集整体F1选模。训练超图阶段的构图来源与测试不同，后面专门说明。</a:t>
            </a:r>
          </a:p>
          <a:p xmlns:a="http://schemas.openxmlformats.org/drawingml/2006/main"/>
          <a:p xmlns:a="http://schemas.openxmlformats.org/drawingml/2006/main">
            <a:r>
              <a:t>原文定位：§3.1、§3.2.1，pp.4–5；参数设置见 §4.3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构图时，对每个中心事件，将与它有潜在因果关系的邻居与中心节点合并为一条超边。为方便讲解，仅展示完整事件超图中的两条超边：r1以e1为中心，包含e1、e2、e3；r2以e4为中心，包含e2、e4。可以由关系(e1,e2)、(e1,e3)、(e2,e4)得到这两组，其他中心超边在示意中省略。关联矩阵A的行是节点、列是超边，属于该超边时记1，否则记0。e2同时属于r1和r2，随后可以在两个事件组之间传递信息。超边内部不要求所有事件对均具有因果关系。后续传播例子继续只使用这两条展示的超边。</a:t>
            </a:r>
          </a:p>
          <a:p xmlns:a="http://schemas.openxmlformats.org/drawingml/2006/main"/>
          <a:p xmlns:a="http://schemas.openxmlformats.org/drawingml/2006/main">
            <a:r>
              <a:t>原文定位：§3.2.1，Eq.(4)，p.5；示例为教学构造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中A为关联矩阵，De为节点度矩阵，Dr为超边度矩阵，I为单位矩阵，因此没有额外的差异化超边权重。按照矩阵相乘顺序，可以理解为先对节点特征做线性变换并按节点度归一化，再通过A的转置把节点特征聚合到超边，通过Dr的逆做超边度归一化，最后通过A将超边特征回传给节点，再做节点度归一化和ReLU。例子只包含前页展示的r1、r2，因此节点度为1、2、1、1，超边度为3、2。下一页用标量特征演示一次完整归一化传播。</a:t>
            </a:r>
          </a:p>
          <a:p xmlns:a="http://schemas.openxmlformats.org/drawingml/2006/main"/>
          <a:p xmlns:a="http://schemas.openxmlformats.org/drawingml/2006/main">
            <a:r>
              <a:t>原文定位：§3.2.2，Eqs.(5)–(7)，p.6；沿用上页两条超边示例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只使用前两页展示的两条超边，以便清楚地展示公式。令输入节点特征为一维标量[1,2,3,4]，Theta=1，所有值为正，ReLU不改变结果。先乘De的负二分之一次方，得到[1,1.414,3,4]。通过A转置聚合并除以超边度，r1为(1+1.414+3)/3=1.805，r2为(1.414+4)/2=2.707。随后回传到节点；e2属于两条超边，所以新特征为(1.805+2.707)/sqrt(2)=3.19。其余e1和e3为1.805，e4为2.707。真实模型使用768维向量和可学习Theta，默认两层。第二层允许信息通过e2传到另一个超边中的节点。</a:t>
            </a:r>
          </a:p>
          <a:p xmlns:a="http://schemas.openxmlformats.org/drawingml/2006/main"/>
          <a:p xmlns:a="http://schemas.openxmlformats.org/drawingml/2006/main">
            <a:r>
              <a:t>原文定位：依照 Eq.(5) 计算；教学示例，不是论文实验数据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过L层HGNN后，每个事件都有结构增强表示。论文并没有直接用它替代初始向量，而是把两个事件的初始向量和超图向量一起拼接，得到4d维事件对表示。全连接层和softmax输出两个标签的概率，最终取预测标签。保留初始表示可以保留局部上下文语义；超图表示则提供文档中相关事件组的证据。训练损失是同一文档内各事件对交叉熵的平均值加L2正则项。各事件对共享更新后的节点表示，但最终输出仍由事件对分类器完成，不能把它理解成额外的联合约束解码。</a:t>
            </a:r>
          </a:p>
          <a:p xmlns:a="http://schemas.openxmlformats.org/drawingml/2006/main"/>
          <a:p xmlns:a="http://schemas.openxmlformats.org/drawingml/2006/main">
            <a:r>
              <a:t>原文定位：§3.3，Eqs.(8)–(9)，p.6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训练ESE：使用训练集真实因果标签微调RoBERTa和MLP，按开发集整体F1选模。后续超图模块训练时，原文明确使用真实关系构图；测试时必须由ESE预测关系构图。推理流程是：枚举事件对并编码、获得潜在因果关系、平均同一事件的多个向量、构造关联矩阵并做两层HGNN、拼接初始和结构表示分类。这个训练与测试构图来源的差异是复现和评价时的重要边界，不应误写成训练阶段同样总是使用预测关系。论文没有完整交代两个阶段的冻结策略和所有优化细节，因此此处不做额外假设。</a:t>
            </a:r>
          </a:p>
          <a:p xmlns:a="http://schemas.openxmlformats.org/drawingml/2006/main"/>
          <a:p xmlns:a="http://schemas.openxmlformats.org/drawingml/2006/main">
            <a:r>
              <a:t>原文定位：§3.1–3.3 与 §4.3，pp.5–7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缩版仅保留最重要的实验依据。整体F1方面，ESC从最强整体基线SENDIR的51.9提高到62.8，English-MECI从RichGCN的58.1提高到68.7。ESC消融中，去掉HGNN的整体/跨句F1为56.7/52.5，换成GCN为61.5/59.3，完整模型为62.8/61.0。因此文档结构本身贡献较大，HGNN相对该GCN基线再带来1.3个整体F1百分点。边界是句内专用方法DPJL仍更强，English-MECI跨句F1仅16.2；整体提升不能代表所有场景都解决。算法的核心链条是局部编码、共享事件超边、组间信息传播、初始与结构语义融合。</a:t>
            </a:r>
          </a:p>
          <a:p xmlns:a="http://schemas.openxmlformats.org/drawingml/2006/main"/>
          <a:p xmlns:a="http://schemas.openxmlformats.org/drawingml/2006/main">
            <a:r>
              <a:t>原文定位：Tables 1–4，pp.8–9；F1 单位为 %</a:t>
            </a:r>
          </a:p>
          <a:p xmlns:a="http://schemas.openxmlformats.org/drawingml/2006/main">
            <a:r>
              <a:t>说明：中文概括以正式版 PDF 为准；标明“阅读思考/建议”的内容为汇报者分析。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d731d3d2d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f2cb0cf6741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1884e984f4b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caa9edf604f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0a1044d284f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5fb9e52af43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be4076bc340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382576a124c5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0c35b0c264c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22886f299468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9d12b6cb94c3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A746DE-82BE-402A-ADDB-6EDA5A631A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B0E2A9-1EE1-4B09-916A-ACFC6AB780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6C7250-37D6-4B20-8FD8-2D63554BAD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CDBB94-FA76-4DC3-ACFF-CEDF7E34C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85C628-A5AB-40AE-883B-775B24953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438C4C-757B-41F0-9377-FD4193D11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62B30E-19E6-4721-BB95-285D6AE663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85C1D9-23CD-49C2-A025-AD2220A079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07AFDA-59A4-4323-B8CD-0E62154BA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5AEE82-53B2-4915-B0BD-AD22B6CD97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9712E-7B41-40D1-9DEB-7FD713949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04721C-8BFD-4FD0-9EDC-214B29918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5DA6A3-F7EF-46F0-84E8-85B25176F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AE70DF-53D2-4E47-9ECF-F3040D761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D4C8ED-3603-4DF8-9256-093B3687B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B561AC-0966-4B64-8D4C-328DD7818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0FBE6C-60D8-41AC-9B85-427BF02FA8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6127FE-1BB5-4877-A0CC-59451AC6C2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5951BF-0719-4122-87E9-11E323F76C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B2F9993-2B85-437C-8039-05996AF7AA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9FD9939-A9E0-48A5-B77D-271D6CB17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AC1392-B050-4CFB-8A24-7A885B73A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008A76-26FD-4C31-8A05-D4EF14DD3E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DE50F2-B656-4E54-93E4-E824CF519A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02F127A-BB00-42DC-A734-B566DFDB0B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73B7904-EB82-466E-8312-BE427EAC600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DB84577-D98C-4368-AC0A-3E94EA3600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2BB9E97-31D9-4869-B440-2CA862630C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E2AAFA9-3640-4DAE-96B1-994F1F8B42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48FB15-0DDE-40B5-A510-3188FC9AF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B734D71-A798-41B1-8E91-8D8BC75BFE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C7EC23F-ABA3-4F81-90B4-4BB16AB68E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41C976C-727A-41E1-AFFB-9C9FFB1BE7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D861F71-18E2-47E0-8EF5-D4F71D9057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FD802B9-EFA2-4981-9768-8E34B0944F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2313ACD-FDF7-4CFA-9DD3-7BF08BCD8A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BDCD1-CE69-4F7E-969A-02065D1D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1570F49-137C-45A8-AFEC-3815F27227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FE45876-BCC9-41DA-935D-7797DB473A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98B5D7D-587C-41D8-AAE4-12BAD964EA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D96353-56DF-4C07-94AF-B275FE6676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BCFC46-6610-4568-9104-42D0919657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7D4B0-134B-4CD4-B1D8-E20759ADA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6A35E39-78B3-44D8-9565-1E132E99A7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0CC83CE-7CF0-4DF4-82BA-75638BAD3A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C9470C-0B36-4BE8-8329-A70C34540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BFBC0E-0C57-4D7A-9CFF-47954F3E8A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9BED3A-86D2-49F5-95B0-8DF064266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63330B-D80A-4381-9BCD-2B65E8147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87A4FC-11CA-4F73-B87C-F0313AF36C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08A3C4-21CB-4021-8ED6-CCAE6FA05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B508E2-8E9C-4B19-A76A-012A7CC7C8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DE120-F74B-445C-B2E3-2D76991AB8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F6028C8-4512-4E37-B553-368457F0F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86A339-115A-48AA-8464-CFBA45318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EE2FD2-CC0D-423F-BD5A-2C237055B8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9A70F-3115-4865-B0E9-FFDAE0160F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4A5A16-2DA8-4817-A707-F3DE60B66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ede5134eae4ccc" /><Relationship Type="http://schemas.openxmlformats.org/officeDocument/2006/relationships/slideLayout" Target="/ppt/slideLayouts/slideLayout1.xml" Id="R5637697320214995" /><Relationship Type="http://schemas.openxmlformats.org/officeDocument/2006/relationships/slideLayout" Target="/ppt/slideLayouts/slideLayout2.xml" Id="Rcf64387338f84c53" /><Relationship Type="http://schemas.openxmlformats.org/officeDocument/2006/relationships/slideLayout" Target="/ppt/slideLayouts/slideLayout3.xml" Id="Rf5781d4f046e470b" /><Relationship Type="http://schemas.openxmlformats.org/officeDocument/2006/relationships/slideLayout" Target="/ppt/slideLayouts/slideLayout4.xml" Id="Rf4d6c4a1a51a4b12" /><Relationship Type="http://schemas.openxmlformats.org/officeDocument/2006/relationships/slideLayout" Target="/ppt/slideLayouts/slideLayout5.xml" Id="R4300dc5ce29b4bf3" /><Relationship Type="http://schemas.openxmlformats.org/officeDocument/2006/relationships/slideLayout" Target="/ppt/slideLayouts/slideLayout6.xml" Id="R77c30e7333f64943" /><Relationship Type="http://schemas.openxmlformats.org/officeDocument/2006/relationships/slideLayout" Target="/ppt/slideLayouts/slideLayout7.xml" Id="Ra6b813f879b74bbe" /><Relationship Type="http://schemas.openxmlformats.org/officeDocument/2006/relationships/slideLayout" Target="/ppt/slideLayouts/slideLayout8.xml" Id="Ra76f772dd7f54bf7" /><Relationship Type="http://schemas.openxmlformats.org/officeDocument/2006/relationships/slideLayout" Target="/ppt/slideLayouts/slideLayout9.xml" Id="Ra6ccd2b7628f4a38" /><Relationship Type="http://schemas.openxmlformats.org/officeDocument/2006/relationships/slideLayout" Target="/ppt/slideLayouts/slideLayout10.xml" Id="R5dbffb7ca47545d6" /><Relationship Type="http://schemas.openxmlformats.org/officeDocument/2006/relationships/slideLayout" Target="/ppt/slideLayouts/slideLayout11.xml" Id="Re27f1e946973451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45A6DE5-4028-400D-A63E-05A1E13E3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ACA633-996D-4254-B1BC-586B34502C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008AEE-1643-4DCD-9F96-227963E14BF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C6F0DE-8508-4C88-878C-9D08039278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952AEF-FA3C-472A-BB74-500C61870B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7697320214995"/>
    <p:sldLayoutId xmlns:r="http://schemas.openxmlformats.org/officeDocument/2006/relationships" id="2147483650" r:id="Rcf64387338f84c53"/>
    <p:sldLayoutId xmlns:r="http://schemas.openxmlformats.org/officeDocument/2006/relationships" id="2147483651" r:id="Rf5781d4f046e470b"/>
    <p:sldLayoutId xmlns:r="http://schemas.openxmlformats.org/officeDocument/2006/relationships" id="2147483652" r:id="Rf4d6c4a1a51a4b12"/>
    <p:sldLayoutId xmlns:r="http://schemas.openxmlformats.org/officeDocument/2006/relationships" id="2147483653" r:id="R4300dc5ce29b4bf3"/>
    <p:sldLayoutId xmlns:r="http://schemas.openxmlformats.org/officeDocument/2006/relationships" id="2147483654" r:id="R77c30e7333f64943"/>
    <p:sldLayoutId xmlns:r="http://schemas.openxmlformats.org/officeDocument/2006/relationships" id="2147483655" r:id="Ra6b813f879b74bbe"/>
    <p:sldLayoutId xmlns:r="http://schemas.openxmlformats.org/officeDocument/2006/relationships" id="2147483656" r:id="Ra76f772dd7f54bf7"/>
    <p:sldLayoutId xmlns:r="http://schemas.openxmlformats.org/officeDocument/2006/relationships" id="2147483657" r:id="Ra6ccd2b7628f4a38"/>
    <p:sldLayoutId xmlns:r="http://schemas.openxmlformats.org/officeDocument/2006/relationships" id="2147483658" r:id="R5dbffb7ca47545d6"/>
    <p:sldLayoutId xmlns:r="http://schemas.openxmlformats.org/officeDocument/2006/relationships" id="2147483659" r:id="Re27f1e946973451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微软雅黑"/>
        <a:buChar char="•"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微软雅黑"/>
        <a:buChar char="–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微软雅黑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微软雅黑"/>
        <a:buChar char="–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微软雅黑"/>
        <a:buChar char="»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ece35fb2e74c63" /><Relationship Type="http://schemas.openxmlformats.org/officeDocument/2006/relationships/notesSlide" Target="/ppt/notesSlides/notesSlide1.xml" Id="R44c1227799d9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f0ae95ff44499c" /><Relationship Type="http://schemas.openxmlformats.org/officeDocument/2006/relationships/image" Target="/ppt/media/image.jpeg" Id="Reece0a9de5bb4d40" /><Relationship Type="http://schemas.openxmlformats.org/officeDocument/2006/relationships/notesSlide" Target="/ppt/notesSlides/notesSlide2.xml" Id="R7a29cbb6708345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7e89da33bb4d9d" /><Relationship Type="http://schemas.openxmlformats.org/officeDocument/2006/relationships/notesSlide" Target="/ppt/notesSlides/notesSlide3.xml" Id="R8acd765ae7aa4a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5fb133d95f40a9" /><Relationship Type="http://schemas.openxmlformats.org/officeDocument/2006/relationships/notesSlide" Target="/ppt/notesSlides/notesSlide4.xml" Id="R87c54612d8cb42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0d602c16c84ad2" /><Relationship Type="http://schemas.openxmlformats.org/officeDocument/2006/relationships/notesSlide" Target="/ppt/notesSlides/notesSlide5.xml" Id="R6e128eee7c8042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18bdfb0fda4de2" /><Relationship Type="http://schemas.openxmlformats.org/officeDocument/2006/relationships/image" Target="/ppt/media/image.png" Id="R4eed1656d4d84791" /><Relationship Type="http://schemas.openxmlformats.org/officeDocument/2006/relationships/notesSlide" Target="/ppt/notesSlides/notesSlide6.xml" Id="Recd56ec09e0440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2be043251a4596" /><Relationship Type="http://schemas.openxmlformats.org/officeDocument/2006/relationships/notesSlide" Target="/ppt/notesSlides/notesSlide7.xml" Id="Rc9372527442642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2d78828f4049e2" /><Relationship Type="http://schemas.openxmlformats.org/officeDocument/2006/relationships/notesSlide" Target="/ppt/notesSlides/notesSlide8.xml" Id="R1ee538b141894b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70355bf9d445db" /><Relationship Type="http://schemas.openxmlformats.org/officeDocument/2006/relationships/notesSlide" Target="/ppt/notesSlides/notesSlide9.xml" Id="R9f655dee284546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6f55522bbd412d" /><Relationship Type="http://schemas.openxmlformats.org/officeDocument/2006/relationships/notesSlide" Target="/ppt/notesSlides/notesSlide10.xml" Id="Rf04c051c8faf45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024DC413-CF25-4729-9A01-059FC8BC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BD9391-66EA-49BE-B435-D1D2974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EHNEM：任务与核心想法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A940CDA-EA2A-434A-A954-385B14D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来源：摘要、§1，pp.1–3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5555B273-E094-4961-9D84-A76A387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9AD708D-921D-4E32-94A7-22F069D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C22667-6142-4A53-93B0-1F4EC615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153138-387C-49FF-B80B-4E04342B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17904"/>
            <a:ext cx="5943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Event-Hypergraph Neural Encoding Model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5BC2666-3804-4F55-9DFE-FBB0B4FF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90572"/>
            <a:ext cx="228600" cy="405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17D14BE-2827-4B13-8BDD-09E974D4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856"/>
            <a:ext cx="5257800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任务：</a:t>
            </a: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给定文档与事件提及，判断句内、跨句事件对是否存在因果关系。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0FB479-67CF-463C-8178-1F2A463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15868"/>
            <a:ext cx="228600" cy="405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3C38C6-5BBE-4C7A-AADB-3BA5ED74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2152"/>
            <a:ext cx="5257800" cy="1014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动机：</a:t>
            </a: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多条关系常共享同一事件，识别一条关系可能帮助识别其他关系。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7226DC6-718B-4680-91F2-0B71906A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46904"/>
            <a:ext cx="518464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69FD6A6-6C9C-498E-AE32-482010C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46904"/>
            <a:ext cx="4114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351C90-99E7-4020-8E4F-BF03FBF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020056"/>
            <a:ext cx="491032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核心：以超边组织相关事件，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让局部语义与文档结构相互补充。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B1CC286-7B22-415C-956C-DC4B1EAC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618488"/>
            <a:ext cx="5349240" cy="357530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12700">
            <a:solidFill>
              <a:srgbClr val="B9C9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F928284-CBCF-475C-B671-684EA4A3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792224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共享事件的因果关联</a:t>
            </a:r>
          </a:p>
        </p:txBody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8265C547-BB6F-4FB9-BB04-35964B03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452360" y="2743200"/>
            <a:ext cx="1545336" cy="8046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96A9C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7B6D589-2212-4407-A86D-6695D322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05456"/>
            <a:ext cx="1554480" cy="4846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2440803-A0B6-456C-9F1D-079EDB2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7" y="2555748"/>
            <a:ext cx="1517904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killing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3977CBCE-D23E-414A-B2E9-FE8B42A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97696" y="2743200"/>
            <a:ext cx="1517904" cy="8046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96A9C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3BE6276-CBC8-469D-BEFD-C93780C2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505456"/>
            <a:ext cx="1554480" cy="4846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E26E095-DB98-4106-A3E2-4A7D0E7F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7" y="2555748"/>
            <a:ext cx="1517904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trial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60A96EB2-693B-4BCD-81F3-C67CEF3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52360" y="3547872"/>
            <a:ext cx="1545336" cy="9144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96A9C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3D3F441-0F91-4DF8-A5B9-DD86E67B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24528"/>
            <a:ext cx="1554480" cy="4846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3E5D684-1F33-4DC4-BA12-A862493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7" y="4274820"/>
            <a:ext cx="1517904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died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F03C4BBD-3CFB-4BCB-8B41-15011470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547872"/>
            <a:ext cx="1380744" cy="9144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96A9C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16C14089-A754-4056-BDB6-192E0DE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224528"/>
            <a:ext cx="1554480" cy="4846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A11D73D-085D-4832-8968-318E247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274820"/>
            <a:ext cx="1517904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murder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2116EB5F-32E2-47D3-831F-A3D75B56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310128"/>
            <a:ext cx="1554480" cy="4846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793FE7F-859C-4E08-9C35-AFDE53F7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3360420"/>
            <a:ext cx="1517904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accused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715895F-2459-45E6-B5D4-DADF7096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800600"/>
            <a:ext cx="4910328" cy="303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示意：一组关系共享 accused；不表示因果方向。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AE56238-82F3-4F9A-8A6C-0C1BA06A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68112"/>
            <a:ext cx="51937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Wei Xiang · Cheng Liu · Bang Wang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Computer Speech &amp; Language, 90 (2025)</a:t>
            </a:r>
          </a:p>
        </p:txBody>
      </p:sp>
    </p:spTree>
    <p:extLst>
      <p:ext uri="{BB962C8B-B14F-4D97-AF65-F5344CB8AC3E}">
        <p14:creationId xmlns:p14="http://schemas.microsoft.com/office/powerpoint/2010/main" val="17544386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86231AA4-9E29-4BC0-9BD6-2AE7C3A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BE9F00B-10C6-4627-BE85-56454AC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算法总览：从局部事件对到文档事件超图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971C8F-3F43-45AA-867D-16697A8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 与 Fig.2，pp.4–6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4A8E84D-DD03-4F68-BD5D-7AAB9CAE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EAEB9E-A9D7-4A83-A834-327151D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4D4CC70-6FA0-40E6-ADD1-BC622D4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34597F78-3C6F-46DD-82EC-FFCC49551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e0a9de5bb4d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1520843"/>
            <a:ext cx="7452360" cy="4502112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BF85940-2D5B-469E-897B-940222B4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627632"/>
            <a:ext cx="363931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119562-3405-4B6A-8854-13DB5AE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719072"/>
            <a:ext cx="3493008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1. 事件编码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646A2BF-D1A8-4814-9128-29303362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456432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句子上下文 → 事件向量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ED0065-C2ED-4A3B-8DEF-385D186F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61488"/>
            <a:ext cx="363931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5B2820D-300B-4A02-A365-FA9B2C7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852928"/>
            <a:ext cx="3493008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2. 关系预测与构图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D900DE-02FE-4221-A639-171A119B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291840"/>
            <a:ext cx="3456432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潜在关系 → 中心事件超边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6439EE9-A96B-4239-8F50-974FDDC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895344"/>
            <a:ext cx="363931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DC3EB95-7533-4416-BED2-D1C7572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3986783"/>
            <a:ext cx="3493008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3. 超图传播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451EFA1-5277-4520-8250-9A6E0098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425696"/>
            <a:ext cx="3456432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 → 超边 → 节点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1130C45-968F-4AC7-A093-25BED77F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029200"/>
            <a:ext cx="363931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77AECD-12A0-4135-A227-A3830A2F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120640"/>
            <a:ext cx="3493008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4. 融合分类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5163A00-B39C-4720-9187-75415D4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5559552"/>
            <a:ext cx="3456432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初始表示 + 结构表示</a:t>
            </a:r>
          </a:p>
        </p:txBody>
      </p:sp>
    </p:spTree>
    <p:extLst>
      <p:ext uri="{BB962C8B-B14F-4D97-AF65-F5344CB8AC3E}">
        <p14:creationId xmlns:p14="http://schemas.microsoft.com/office/powerpoint/2010/main" val="9948765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497F50E4-7E81-4448-9AEB-F88CF30C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A5B742D-22A1-4AB6-9B57-6B42A9C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Step 1：用 RoBERTa 编码事件对的上下文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70CA36-E849-40CE-965A-3655591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来源：§3.1，Eqs.(1)–(2)，p.4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869E836-7B3C-4F23-8922-99E8A72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110A6EF-FB16-4343-B232-6717DFFF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A5602B2-0ED0-4957-B404-7DCF3D9B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F513641-3400-4CB6-BB59-5DC3EAFE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1）组织输入：一个句子或两个句子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D3239E-5B3C-4029-B475-ED69D9D2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121408"/>
            <a:ext cx="539496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BBE4973-2252-44EE-A438-E6425341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121408"/>
            <a:ext cx="4114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DCEAD31-BE76-4916-B7C1-8A00EEF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94560"/>
            <a:ext cx="512064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同句：T(x_k) = S_i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跨句：T(x_k) = [S_i ; S_j]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6E829E5-DBBB-483D-94F9-1402C3B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4448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2）编码后，只池化事件提及的 token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84C4E4-3586-4763-A21D-B5CE77CB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257800" cy="103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H_k = RoBERTa(T(x_k))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e_i,k = MeanPool(H_k[event i])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2369D69-2497-4509-9BE4-14E841E8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5500116"/>
            <a:ext cx="228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3BC336B-9832-4D79-B559-65803345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486400"/>
            <a:ext cx="52852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上下文已进入隐状态；无需把整句平均为事件向量。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4D3A7E-E00B-4639-92DC-2F634C6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72768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事件向量提取示意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982357A-28CB-4459-A9FC-CC525BC3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231136"/>
            <a:ext cx="51663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C"/>
          </a:solidFill>
          <a:ln xmlns:a="http://schemas.openxmlformats.org/drawingml/2006/main" w="12700">
            <a:solidFill>
              <a:srgbClr val="C7D5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FE23AD9-9E53-41CD-9135-9580DD1D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368296"/>
            <a:ext cx="491032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... [rammed] ... [smashing] ...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EFAE501B-62C5-4E55-BE22-9F8E25CE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971800"/>
            <a:ext cx="0" cy="3931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706563F-AF61-456C-9D6C-510586D3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429000"/>
            <a:ext cx="44074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06C953A-0225-4F42-A3A7-9122A6A3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520440"/>
            <a:ext cx="4261104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RoBERTa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9938194-ECD8-4D40-81E4-DDBC19E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3959352"/>
            <a:ext cx="4224528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输出各 token 的上下文隐状态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D8C11BAE-C869-4E0C-B9B7-E368FB2F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389120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64721A24-453F-41EA-BD28-A559C6DE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389120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F16B4EB-8E02-4041-9FDA-9CD60C7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809744"/>
            <a:ext cx="2514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5C38503-3B8C-499D-97C3-F0FFB95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01183"/>
            <a:ext cx="236829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事件 i 的向量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72F54AF-D6D9-4A31-B373-79121F67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7" y="5340096"/>
            <a:ext cx="233172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提及内平均池化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B23C782-7254-459C-AD44-50C16FCB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809744"/>
            <a:ext cx="25146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86065D0-72D3-4F42-8DF4-E972BD9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901183"/>
            <a:ext cx="236829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事件 j 的向量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258AA1B-2FEA-4FB3-8F5E-9A69AD7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40096"/>
            <a:ext cx="233172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提及内平均池化</a:t>
            </a:r>
          </a:p>
        </p:txBody>
      </p:sp>
    </p:spTree>
    <p:extLst>
      <p:ext uri="{BB962C8B-B14F-4D97-AF65-F5344CB8AC3E}">
        <p14:creationId xmlns:p14="http://schemas.microsoft.com/office/powerpoint/2010/main" val="16691538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5525E763-0F8F-434A-B0DD-88BCB145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FDE49D6-C7A7-46C6-91B4-1D8F948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Step 2：预测潜在关系，并统一事件节点表示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F88B08-FD66-4EB7-964E-A69E13F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来源：§3.1、§3.2.1，pp.4–5；参数设置见 §4.3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9DC77681-983E-4F2D-B15A-7FCEE246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A9EF32-D496-468B-9AFB-36B0F42B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0D205A1-9286-421A-89E0-BC8BDA9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4100CE-C428-4601-BE7C-B4BDFB87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输出 A：事件对的潜在因果关系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7E00F10-BE08-4486-8EA1-65D63BD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167128"/>
            <a:ext cx="544982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E046A1A-D473-4220-A593-02BFCCF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167128"/>
            <a:ext cx="4114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DEDE48D-0A15-4468-BFCA-F1C6C76E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5175504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[e_i,k ; e_j,k] → MLP → Rel_k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C91D04-04E5-4152-A11F-B3600E4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488436"/>
            <a:ext cx="228600" cy="405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E7B907A-2303-4014-9233-60F05227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74720"/>
            <a:ext cx="529437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ESE 使用真实因果标签训练，按开发集整体 F1 选模。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E24A9E0-58F8-43EA-8178-FE75A041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750307"/>
            <a:ext cx="228600" cy="405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668816B-9E03-414D-BFAA-A5C30DCB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36592"/>
            <a:ext cx="529437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测试时根据预测关系构图；论文给出的因果连接阈值为 </a:t>
            </a: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0.7</a:t>
            </a: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0C0DFB7-5F9A-4403-A99F-21B3BC2A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72768"/>
            <a:ext cx="5285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输出 B：一个事件对应一个节点向量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A159E7F-5782-49F3-AD02-E2729359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203704"/>
            <a:ext cx="5074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同一事件 e_i 在不同事件对中，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会得到多份上下文表示。</a:t>
            </a:r>
          </a:p>
        </p:txBody>
      </p:sp>
      <p:graphicFrame>
        <p:nvGraphicFramePr>
          <p:cNvPr id="25" name="Table 24">
            <a:extLst xmlns:a="http://schemas.openxmlformats.org/drawingml/2006/main">
              <a:ext uri="{FF2B5EF4-FFF2-40B4-BE49-F238E27FC236}">
                <a16:creationId xmlns:a16="http://schemas.microsoft.com/office/drawing/2014/main" id="{389F1635-C02D-4084-B0A5-BFFDCD79F521}"/>
              </a:ext>
            </a:extLst>
          </p:cNvPr>
          <p:cNvGraphicFramePr/>
          <p:nvPr/>
        </p:nvGraphicFramePr>
        <p:xfrm>
          <a:off xmlns:a="http://schemas.openxmlformats.org/drawingml/2006/main" x="6528816" y="3383280"/>
          <a:ext xmlns:a="http://schemas.openxmlformats.org/drawingml/2006/main" cx="5029200" cy="14173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78892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事件对上下文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e_i 的向量（示意）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(e_i, e_j)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[1, 3]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(e_i, e_t)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[3, 5]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019F62A-DA86-4FE5-B968-B4D05EF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5184648"/>
            <a:ext cx="503834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A8D46EE-0A4C-46AF-AE11-498EC7BE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5184648"/>
            <a:ext cx="41148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76D7E62-1728-4B26-8FD9-C227C913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57800"/>
            <a:ext cx="47640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节点初始化：Mean([1,3], [3,5]) = [2,4]</a:t>
            </a:r>
          </a:p>
        </p:txBody>
      </p:sp>
    </p:spTree>
    <p:extLst>
      <p:ext uri="{BB962C8B-B14F-4D97-AF65-F5344CB8AC3E}">
        <p14:creationId xmlns:p14="http://schemas.microsoft.com/office/powerpoint/2010/main" val="19728267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B1AE316C-BBC1-4DBA-94C4-632A6F3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3ED173-4720-4F65-ACAE-6D85C77D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Step 3：围绕中心事件合并关系，形成超边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6DDB5D-CE25-4317-BAA4-FD0D630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来源：§3.2.1，Eq.(4)，p.5；示例为教学构造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C0C50888-F9EC-47F2-BB0E-8DFC25E1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AE5D515-3956-40FC-8926-87640B83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3810224-C12E-4E09-AA38-763AAC9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6D42768-9E2A-4E45-9D82-19217C51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1586484"/>
            <a:ext cx="228600" cy="405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9C6195-F950-477A-B8AC-9C71B58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72768"/>
            <a:ext cx="5394960" cy="1033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中心事件 + 关联邻居 = 一条超边。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中心节点也属于这条超边。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2D4B97D-20C3-4263-BE49-FF7D36B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16936"/>
            <a:ext cx="5074920" cy="1792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C4D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607EA6A-0D86-4791-A541-B5C22E04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108960"/>
            <a:ext cx="4681728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中心 e1：r1 = {e1, e2, e3}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中心 e4：r2 = {e2, e4}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C56E5A-788E-4307-8C07-7255EC2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20056"/>
            <a:ext cx="4965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仅展示其中两条超边。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组内事件无需两两存在因果关系。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8F5E81D-468A-49FE-9445-4FDE3C6A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9344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关联矩阵 A：节点 × 超边</a:t>
            </a:r>
          </a:p>
        </p:txBody>
      </p:sp>
      <p:graphicFrame>
        <p:nvGraphicFramePr>
          <p:cNvPr id="21" name="Table 20">
            <a:extLst xmlns:a="http://schemas.openxmlformats.org/drawingml/2006/main">
              <a:ext uri="{FF2B5EF4-FFF2-40B4-BE49-F238E27FC236}">
                <a16:creationId xmlns:a16="http://schemas.microsoft.com/office/drawing/2014/main" id="{5410A6F5-CB35-4FEB-A881-A356CE23476D}"/>
              </a:ext>
            </a:extLst>
          </p:cNvPr>
          <p:cNvGraphicFramePr/>
          <p:nvPr/>
        </p:nvGraphicFramePr>
        <p:xfrm>
          <a:off xmlns:a="http://schemas.openxmlformats.org/drawingml/2006/main" x="6519672" y="2395728"/>
          <a:ext xmlns:a="http://schemas.openxmlformats.org/drawingml/2006/main" cx="4965191" cy="261518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231"/>
                <a:gridCol w="1554480"/>
                <a:gridCol w="1554480"/>
              </a:tblGrid>
              <a:tr h="523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</a:tr>
              <a:tr h="523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</a:tr>
              <a:tr h="523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e2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</a:tr>
              <a:tr h="5230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e3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</a:tr>
              <a:tr h="5230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e4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9E0ABEE-9EA4-41F7-A3D7-7C3E661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5358384"/>
            <a:ext cx="496519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60F8E62-7460-4BBE-A42A-C884E7E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5358384"/>
            <a:ext cx="4114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1EEA1E3-3AF1-48D9-B5DA-B5B8641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431536"/>
            <a:ext cx="4690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e2 共享两条超边，是两个组之间的桥梁。</a:t>
            </a:r>
          </a:p>
        </p:txBody>
      </p:sp>
    </p:spTree>
    <p:extLst>
      <p:ext uri="{BB962C8B-B14F-4D97-AF65-F5344CB8AC3E}">
        <p14:creationId xmlns:p14="http://schemas.microsoft.com/office/powerpoint/2010/main" val="1461619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9D64492C-208C-47FD-ADD7-DF99F2EB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138B257-4C47-48C9-B9A4-22542A9B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Step 4：HGNN 按“节点—超边—节点”更新表示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67B889-EB23-4E1A-9CE9-5CCCA85B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来源：§3.2.2，Eqs.(5)–(7)，p.6；沿用上页两条超边示例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A4A4C203-DD2E-488A-979C-5B97175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A457B6-3730-40ED-A0C2-D5992FE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3E4B8A2-7ACE-4E7F-8256-FAB08097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31B0FFA-1956-4DB6-B4B4-15EAF79E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63624"/>
            <a:ext cx="111556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CC558C80-4B8C-43DB-ADE6-08EBC52E7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d1656d4d8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34943" y="1618488"/>
            <a:ext cx="5236768" cy="758952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955F4B5-89C3-4767-953F-DCBD53F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9504"/>
            <a:ext cx="34290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802AA6-8FCF-4B54-B1C0-AD0DA62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80944"/>
            <a:ext cx="328269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节点特征变换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872FCF4-2FB8-47BD-A2A5-C95E87E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24612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 × Theta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07ACF23-9F5E-43DE-B16C-E45901C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889504"/>
            <a:ext cx="34290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FB3B385-36FE-4B9A-903E-9BFFF92B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980944"/>
            <a:ext cx="328269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节点聚合到超边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043247-3B4B-4DCB-882D-90F05CD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419856"/>
            <a:ext cx="324612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 的转置 × 节点特征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6D307E2-304B-4FD9-89D3-4A729D02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889504"/>
            <a:ext cx="34290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04CDD85-26EC-4F60-BF75-537908F6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980944"/>
            <a:ext cx="328269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超边回传到节点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4CF3E34-4CF1-4A98-A2C4-04DA5A0D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3419856"/>
            <a:ext cx="324612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 × 超边特征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89BDA5FA-4198-4E38-8150-A9C514CF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410712"/>
            <a:ext cx="26517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1071E00F-B6AA-4327-815E-FF6797C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410712"/>
            <a:ext cx="26517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6511CBD-0FBB-4B9E-B43C-3DF9621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9976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度归一化：控制聚合信息的规模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238A142-774F-4D21-8333-06A85D75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65192"/>
            <a:ext cx="5248656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节点度 D_e：一个节点属于几条超边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超边度 D_r：一条超边包含几个节点</a:t>
            </a:r>
          </a:p>
        </p:txBody>
      </p:sp>
      <p:graphicFrame>
        <p:nvGraphicFramePr>
          <p:cNvPr id="30" name="Table 29">
            <a:extLst xmlns:a="http://schemas.openxmlformats.org/drawingml/2006/main">
              <a:ext uri="{FF2B5EF4-FFF2-40B4-BE49-F238E27FC236}">
                <a16:creationId xmlns:a16="http://schemas.microsoft.com/office/drawing/2014/main" id="{962270E2-A93B-402B-8FC7-E3D309C85D9C}"/>
              </a:ext>
            </a:extLst>
          </p:cNvPr>
          <p:cNvGraphicFramePr/>
          <p:nvPr/>
        </p:nvGraphicFramePr>
        <p:xfrm>
          <a:off xmlns:a="http://schemas.openxmlformats.org/drawingml/2006/main" x="6492240" y="4398264"/>
          <a:ext xmlns:a="http://schemas.openxmlformats.org/drawingml/2006/main" cx="5029200" cy="145389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沿用示例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度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 / e2 / e3 / e4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/ 2 / 1 / 1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 / r2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9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2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4A16AFF-5194-45FF-96B5-B88F001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71032"/>
            <a:ext cx="10789920" cy="344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I 为单位阵（超边等权）；Theta 为可学习矩阵；激活函数为 ReLU。</a:t>
            </a:r>
          </a:p>
        </p:txBody>
      </p:sp>
    </p:spTree>
    <p:extLst>
      <p:ext uri="{BB962C8B-B14F-4D97-AF65-F5344CB8AC3E}">
        <p14:creationId xmlns:p14="http://schemas.microsoft.com/office/powerpoint/2010/main" val="7400893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B33C7EAA-92AB-4E9B-9809-FAAB4CF3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4009035-D1CF-47E6-BA23-1959AAA7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传播示例：e2 如何融合两条超边的信息？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2AE11A-E599-4332-91CB-E8BFBAF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来源：依照 Eq.(5) 计算；教学示例，不是论文实验数据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9D1CAF7-4A45-445C-8DD2-D6BB87F8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0B1DF05-A152-4AB9-96ED-911CB2F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CEC4F38-2B20-47D6-A52C-C85B8DD3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C569F1-194C-4A28-94A9-0DEC7C3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52704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为便于计算，设节点为一维特征：[e1,e2,e3,e4] = [1,2,3,4]，Theta = 1。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4E91579-BD7F-499F-96E0-C1162776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304288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1）节点归一化后，聚合成超边特征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DCF513C-1229-4316-A609-548FCE3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07792"/>
            <a:ext cx="53035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节点特征：[1, 1.414, 3, 4]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2F1A087-6260-4C47-94FC-F0F58BC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30752"/>
            <a:ext cx="5385816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D989D59-8137-49E7-A3C0-7723FAF8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30752"/>
            <a:ext cx="41148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97FC35D-7304-4FB0-B32C-DFFF763E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803904"/>
            <a:ext cx="51114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r1 = (1 + 1.414 + 3) / 3 = 1.805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r2 = (1.414 + 4) / 2 = 2.707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6D06D6-DA85-4D94-9B12-5BD9A0C8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221224"/>
            <a:ext cx="5065776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 的转置负责聚合；D_r 的逆负责除以超边度。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5270450-19BC-4A77-A959-5AB39A03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04288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2）回传给 e2，再按节点度归一化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8A05879-8CA5-4F8C-A104-3EAA349D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026664"/>
            <a:ext cx="5038344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839285D-38B5-458A-B683-768873B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026664"/>
            <a:ext cx="41148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2DC6522-85BC-4AB3-96E1-BC870B8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099816"/>
            <a:ext cx="4764024" cy="118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e2 新表示 = (r1 + r2) / sqrt(2)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             = 3.19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80FD516-5491-4687-933F-65128B57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686300"/>
            <a:ext cx="228600" cy="405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02E2161-AB06-4DE8-BED5-0C3A805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672584"/>
            <a:ext cx="5157216" cy="1106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e2 同时利用两个事件组的信息；两层传播可进一步连接不同组内的节点。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2308048-497B-46C9-AAE9-414CFBD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007608"/>
            <a:ext cx="10698480" cy="293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注：此处只用展示的两条超边；真实模型使用向量特征与可学习变换，而非一维常数。</a:t>
            </a:r>
          </a:p>
        </p:txBody>
      </p:sp>
    </p:spTree>
    <p:extLst>
      <p:ext uri="{BB962C8B-B14F-4D97-AF65-F5344CB8AC3E}">
        <p14:creationId xmlns:p14="http://schemas.microsoft.com/office/powerpoint/2010/main" val="2035762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DC10EDFD-6F91-4B7A-A870-6B9630CC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373529-C976-44D3-8040-21D18F00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Step 5：拼接初始表示与超图表示，完成分类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0B91038-56EA-4F66-89D8-E57094EC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来源：§3.3，Eqs.(8)–(9)，p.6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84581737-18FF-49C3-9DFA-303448C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AFB09E1-5468-43EA-94DA-19DF4EE6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AC2BDE5-79F0-4C4F-9C3B-88F06F5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7272E5-F12D-4515-93A9-E6DB8D93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91640"/>
            <a:ext cx="49377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2DD6D8-2859-40DB-B7F3-ADF504CB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783080"/>
            <a:ext cx="479145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局部语义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0CC99C8-2304-4121-BD41-10FD8FE7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21992"/>
            <a:ext cx="475488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e_i^(0) 和 e_j^(0)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40D444-2EE5-47F5-A894-B7165571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1640"/>
            <a:ext cx="49377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862414-2AFE-486B-B538-0776E509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783080"/>
            <a:ext cx="479145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文档结构语义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DD32CE-ABD6-4104-B888-2199FB9A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221992"/>
            <a:ext cx="475488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e_i^(L) 和 e_j^(L)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199635E9-52A8-44D2-A37F-BD48C6BE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2743200"/>
            <a:ext cx="2020824" cy="41148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0599B056-3E53-4592-8FC2-7951D20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086600" y="2743200"/>
            <a:ext cx="1993392" cy="41148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9510FA5-E247-49E0-A0DD-4145BA85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18688"/>
            <a:ext cx="10287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17D759-F43A-41C8-9D7C-CF214E78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18688"/>
            <a:ext cx="4114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730A97-D391-4F98-A1EB-3A3ED0A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291840"/>
            <a:ext cx="1001268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v_k = [e_i^(0) ; e_j^(0) ; e_i^(L) ; e_j^(L)]，维度为 4d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9AA0E6E-858A-471E-A3CB-C42112D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407408"/>
            <a:ext cx="8339327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5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v_k → 全连接层 → Softmax → 因果 / 非因果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3851898-331B-4A8B-AC1F-2F0A802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30952"/>
            <a:ext cx="102870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756BB54-3FE2-48B6-B4F9-D5E4CA79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30952"/>
            <a:ext cx="4114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B31E935-FEAB-47AA-85A2-C982277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404104"/>
            <a:ext cx="10012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训练目标：文档内事件对的平均交叉熵 + L2 正则项</a:t>
            </a:r>
          </a:p>
        </p:txBody>
      </p:sp>
    </p:spTree>
    <p:extLst>
      <p:ext uri="{BB962C8B-B14F-4D97-AF65-F5344CB8AC3E}">
        <p14:creationId xmlns:p14="http://schemas.microsoft.com/office/powerpoint/2010/main" val="1422696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716AFDB9-64C0-450C-8480-5F99BDBA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5CD3A2-5817-4450-9FF2-905567AF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训练与推理：关键区别是“用什么关系构图”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E81446-09F2-495A-AC79-0302E12F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来源：§3.1–3.3 与 §4.3，pp.5–7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C78C7A93-EFBA-4819-99C0-0585B2F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52DE467-50F3-4129-9C37-A25872C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469602A-021F-4DE5-81F7-DEFC606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A415706-1F1F-4681-892F-972F2BD6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57276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训练流程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D5319B2-4F48-4B33-91C7-0CAF1CAC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12848"/>
            <a:ext cx="5212080" cy="1042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D001F9-5EC2-4610-908E-F15C7BC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304288"/>
            <a:ext cx="506577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先训练 ESE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8BCE094-C6B3-4416-9682-DC334214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43200"/>
            <a:ext cx="502920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真实事件对标签 → RoBERTa + MLP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5F51556C-1B0E-40E6-A543-8DA8088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3255264"/>
            <a:ext cx="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C1384C0-2A43-4B48-86BE-74B8033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75887"/>
            <a:ext cx="5212080" cy="1042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 w="12700">
            <a:solidFill>
              <a:srgbClr val="BED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51B6AFC-7C37-47A5-84F6-A71AD091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767327"/>
            <a:ext cx="5065776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再训练超图分类模块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319FBE6-97F1-47DD-AF76-4249A2E9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06240"/>
            <a:ext cx="5029200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真实关系构图 → HGNN → 分类损失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FFD78E-0736-4796-AEA2-3512C1D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75504"/>
            <a:ext cx="48737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开发集用于选模；真实关系仅用于训练图。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5E8338A-625C-4DBF-98BF-B5970AD5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572768"/>
            <a:ext cx="5330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测试流程（算法顺序）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3100CAD-B647-4199-9B1F-05D7E21C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221992"/>
            <a:ext cx="5074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1. 编码事件对，MLP 预测潜在关系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94B4F8B-3DBF-4A5E-B8BE-E13D2461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07792"/>
            <a:ext cx="5074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2. 同一事件的多个表示取平均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4F09CCE-D0E0-4AA8-93E0-32A90A6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593592"/>
            <a:ext cx="5074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3. 预测关系 → 超边 → 关联矩阵 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C349FB4-A432-403F-9654-28D40A5D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79392"/>
            <a:ext cx="5074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4. 两层 HGNN 更新事件表示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1260749-E61C-470C-9DC7-688C577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65192"/>
            <a:ext cx="5074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5. 拼接初始 / 结构表示，输出标签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618A379-0E15-4981-8839-7A5BB2C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769864"/>
            <a:ext cx="5074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C62727"/>
                </a:solidFill>
                <a:latin typeface="微软雅黑"/>
                <a:ea typeface="微软雅黑"/>
                <a:cs typeface="微软雅黑"/>
              </a:rPr>
              <a:t>关注点：预测图噪声可能影响后续传播。</a:t>
            </a:r>
          </a:p>
        </p:txBody>
      </p:sp>
    </p:spTree>
    <p:extLst>
      <p:ext uri="{BB962C8B-B14F-4D97-AF65-F5344CB8AC3E}">
        <p14:creationId xmlns:p14="http://schemas.microsoft.com/office/powerpoint/2010/main" val="4978295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4">
            <a:extLst xmlns:a="http://schemas.openxmlformats.org/drawingml/2006/main">
              <a:ext uri="{FF2B5EF4-FFF2-40B4-BE49-F238E27FC236}">
                <a16:creationId xmlns:a16="http://schemas.microsoft.com/office/drawing/2014/main" id="{9546B81E-AE80-415F-AE7F-D72CA71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39" tIns="45719" rIns="91439" bIns="45719" anchor="ctr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5pPr>
            <a:lvl6pPr marL="3429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6pPr>
            <a:lvl7pPr marL="6858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7pPr>
            <a:lvl8pPr marL="10287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8pPr>
            <a:lvl9pPr marL="1371600" algn="ctr">
              <a:spcBef>
                <a:spcPct val="0"/>
              </a:spcBef>
              <a:spcAft>
                <a:spcPct val="0"/>
              </a:spcAft>
              <a:buNone/>
              <a:defRPr sz="33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</a:pPr>
            <a:r>
              <a:rPr sz="4200" b="1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  <a:endParaRPr sz="4800" kern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60CB2C-5B80-4F7B-AA98-94F9C20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877824"/>
            <a:ext cx="1179576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 实验与总结：结构学习主要帮助跨句关系识别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85D9A0-2823-4641-A7A4-C0D9F77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318504"/>
            <a:ext cx="10881360" cy="232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来源：Tables 1–4，pp.8–9；F1 单位为 %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671A7506-3029-41A8-A8B6-22566AD9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1594592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D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C421F2F-F16C-43F6-A51D-BB29899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611112"/>
            <a:ext cx="11201400" cy="2039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1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[1] Xiang et al. Modeling correlated causal-effect structure with a hypergraph… Computer Speech &amp; Language 90 (2025), 101752.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E9F6337-1C51-44C2-8EFF-686659EC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08" y="6592824"/>
            <a:ext cx="411480" cy="2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4C7674E-96DF-4F48-AD5B-E58342A9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1572768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整体 F1：与最强整体基线比较</a:t>
            </a:r>
          </a:p>
        </p:txBody>
      </p:sp>
      <p:graphicFrame>
        <p:nvGraphicFramePr>
          <p:cNvPr id="16" name="Table 15">
            <a:extLst xmlns:a="http://schemas.openxmlformats.org/drawingml/2006/main">
              <a:ext uri="{FF2B5EF4-FFF2-40B4-BE49-F238E27FC236}">
                <a16:creationId xmlns:a16="http://schemas.microsoft.com/office/drawing/2014/main" id="{B7FFA880-E755-4AF0-8E4B-B6427236892C}"/>
              </a:ext>
            </a:extLst>
          </p:cNvPr>
          <p:cNvGraphicFramePr/>
          <p:nvPr/>
        </p:nvGraphicFramePr>
        <p:xfrm>
          <a:off xmlns:a="http://schemas.openxmlformats.org/drawingml/2006/main" x="521207" y="2221992"/>
          <a:ext xmlns:a="http://schemas.openxmlformats.org/drawingml/2006/main" cx="5486400" cy="179222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188720"/>
                <a:gridCol w="1097280"/>
              </a:tblGrid>
              <a:tr h="5974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EHNEM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51.9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62.8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+10.9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English-MECI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58.1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68.7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+10.6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DA5D22-4B8E-451F-A379-44B7AFA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251960"/>
            <a:ext cx="5303520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ESC 基线：SENDIR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English-MECI 基线：RichGCN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4B6CD44-3E5A-4335-8223-37B25B86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572768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ESC 消融：结构模块的作用</a:t>
            </a:r>
          </a:p>
        </p:txBody>
      </p:sp>
      <p:graphicFrame>
        <p:nvGraphicFramePr>
          <p:cNvPr id="19" name="Table 18">
            <a:extLst xmlns:a="http://schemas.openxmlformats.org/drawingml/2006/main">
              <a:ext uri="{FF2B5EF4-FFF2-40B4-BE49-F238E27FC236}">
                <a16:creationId xmlns:a16="http://schemas.microsoft.com/office/drawing/2014/main" id="{5E20CCD0-0333-4518-8394-5CAFA30852AE}"/>
              </a:ext>
            </a:extLst>
          </p:cNvPr>
          <p:cNvGraphicFramePr/>
          <p:nvPr/>
        </p:nvGraphicFramePr>
        <p:xfrm>
          <a:off xmlns:a="http://schemas.openxmlformats.org/drawingml/2006/main" x="6483096" y="2221992"/>
          <a:ext xmlns:a="http://schemas.openxmlformats.org/drawingml/2006/main" cx="5148072" cy="231343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144"/>
                <a:gridCol w="1426464"/>
                <a:gridCol w="1426464"/>
              </a:tblGrid>
              <a:tr h="5783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 F1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跨句 F1</a:t>
                      </a:r>
                    </a:p>
                  </a:txBody>
                  <a:tcPr marL="91440" marR="64008" marT="27432" marB="18288" anchor="ctr">
                    <a:solidFill>
                      <a:srgbClr val="4472C4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仅局部语义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56.7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52.5</a:t>
                      </a:r>
                    </a:p>
                  </a:txBody>
                  <a:tcPr marL="91440" marR="64008" marT="27432" marB="18288" anchor="ctr">
                    <a:solidFill>
                      <a:srgbClr val="FFFF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换为 GCN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61.5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59.3</a:t>
                      </a:r>
                    </a:p>
                  </a:txBody>
                  <a:tcPr marL="91440" marR="64008" marT="27432" marB="18288" anchor="ctr">
                    <a:solidFill>
                      <a:srgbClr val="F7F7F7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 EHNEM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62.8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61.0</a:t>
                      </a:r>
                    </a:p>
                  </a:txBody>
                  <a:tcPr marL="91440" marR="64008" marT="27432" marB="18288" anchor="ctr"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CF6A320-77D5-4130-A8CF-66AC253B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148072"/>
            <a:ext cx="1100937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1D6A318-D1A7-4FEB-A19B-00E09EE5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148072"/>
            <a:ext cx="4114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7FBC720-D77F-4578-9006-6E017D4A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221224"/>
            <a:ext cx="1073505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算法主线：事件对编码 → 共享事件超边 → HGNN 传播 → 局部 / 结构语义融合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9B3D5B-D2D8-44C7-BDC1-E5516E1B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88736"/>
            <a:ext cx="10808208" cy="36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" tIns="9144" rIns="9144" bIns="9144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结果边界：句内专用基线 DPJL 更强；English-MECI 的跨句 F1 仍只有 16.2。</a:t>
            </a:r>
          </a:p>
        </p:txBody>
      </p:sp>
    </p:spTree>
    <p:extLst>
      <p:ext uri="{BB962C8B-B14F-4D97-AF65-F5344CB8AC3E}">
        <p14:creationId xmlns:p14="http://schemas.microsoft.com/office/powerpoint/2010/main" val="7807391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2026-10-22T13:22:25.5260000Z</dcterms:created>
  <dcterms:modified xsi:type="dcterms:W3CDTF">2026-10-22T13:22:25.5260000Z</dcterms:modified>
</coreProperties>
</file>