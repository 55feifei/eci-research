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95" r:id="rId3"/>
    <p:sldId id="1090" r:id="rId5"/>
    <p:sldId id="1091" r:id="rId6"/>
    <p:sldId id="109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论文阅读" id="{1F716997-B06E-4ED0-A649-9606884D5890}">
          <p14:sldIdLst>
            <p14:sldId id="795"/>
            <p14:sldId id="1090"/>
            <p14:sldId id="1091"/>
            <p14:sldId id="10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pos="143" userDrawn="1">
          <p15:clr>
            <a:srgbClr val="A4A3A4"/>
          </p15:clr>
        </p15:guide>
        <p15:guide id="3" pos="75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94C07"/>
    <a:srgbClr val="4472C4"/>
    <a:srgbClr val="95AEDE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4" autoAdjust="0"/>
    <p:restoredTop sz="85842" autoAdjust="0"/>
  </p:normalViewPr>
  <p:slideViewPr>
    <p:cSldViewPr snapToGrid="0" showGuides="1">
      <p:cViewPr varScale="1">
        <p:scale>
          <a:sx n="74" d="100"/>
          <a:sy n="74" d="100"/>
        </p:scale>
        <p:origin x="628" y="64"/>
      </p:cViewPr>
      <p:guideLst>
        <p:guide orient="horz" pos="4269"/>
        <p:guide pos="143"/>
        <p:guide pos="75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10193-E14F-4965-81D2-E33AB53BE2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E7C9A-AE1C-4EEE-89FE-7B09D12762E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直观感受</a:t>
            </a:r>
            <a:r>
              <a:rPr lang="zh-CN" altLang="en-US" dirty="0"/>
              <a:t>是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拥有大量粉丝的名人是预测社交网络趋势的重要因素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0E7C9A-AE1C-4EEE-89FE-7B09D12762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0E7C9A-AE1C-4EEE-89FE-7B09D12762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0E7C9A-AE1C-4EEE-89FE-7B09D12762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0E7C9A-AE1C-4EEE-89FE-7B09D12762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730AE-54FC-4051-992E-6924EA160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4CB9D-F093-4524-B643-28055111E1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华光粗黑_CNKI" panose="02000500000000000000" pitchFamily="2" charset="-122"/>
                <a:ea typeface="华光粗黑_CNKI" panose="02000500000000000000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华光粗黑_CNKI" panose="02000500000000000000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80613" y="1440594"/>
                <a:ext cx="6732251" cy="29672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任务领域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：图表示学习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，学习节点表示矩阵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背景知识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架构在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NLP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CV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领域取得了显著性效果，但在图预测任务上的效果与传统的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方案尚有差距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创新点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）本文认为将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架构应用于图领域，关键在于将图结构信息耦合到模型当中；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）本文提出基于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架构的图表示学习模型</a:t>
                </a:r>
                <a:r>
                  <a:rPr lang="en-US" altLang="zh-CN" b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Graphormer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，提出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三种图结构编码方案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，来计算节点之间的注意力权重；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）目前对图结构建模依旧是依靠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进行，本文第一次利用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思想建模图结构信息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13" y="1440594"/>
                <a:ext cx="6732251" cy="2967287"/>
              </a:xfrm>
              <a:prstGeom prst="rect">
                <a:avLst/>
              </a:prstGeom>
              <a:blipFill rotWithShape="1">
                <a:blip r:embed="rId1"/>
                <a:stretch>
                  <a:fillRect l="-4" t="-14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779007"/>
            <a:ext cx="5364149" cy="2385323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3859" y="876832"/>
            <a:ext cx="3465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4472C4"/>
                </a:solidFill>
                <a:latin typeface="华光大黑_CNKI" panose="02000500000000000000" pitchFamily="2" charset="-122"/>
                <a:ea typeface="华光大黑_CNKI" panose="02000500000000000000" pitchFamily="2" charset="-122"/>
              </a:rPr>
              <a:t>Graph Transformer</a:t>
            </a:r>
            <a:endParaRPr lang="zh-CN" altLang="en-US" sz="2400" b="1" dirty="0">
              <a:solidFill>
                <a:srgbClr val="4472C4"/>
              </a:solidFill>
              <a:ea typeface="华光大黑_CNKI" panose="02000500000000000000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8536" y="6528816"/>
            <a:ext cx="847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[1] Do Transformers Really Perform Bad  for Graph Representation? (NIPS, 2021)</a:t>
            </a: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476" y="4059712"/>
            <a:ext cx="6515665" cy="47248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541829"/>
            <a:ext cx="2296921" cy="47377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040111" y="4614981"/>
            <a:ext cx="209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传统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GNN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表示方案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57" y="5254649"/>
            <a:ext cx="2862973" cy="720844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85352" y="6006786"/>
            <a:ext cx="331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传统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Transformer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自注意力机制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180613" y="4580227"/>
                <a:ext cx="6732251" cy="1289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图结构编码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--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中心度编码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）文章认为建模图中存在重要节点和普通节点；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）基于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节点的出入度实例化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两个嵌入向量，并将其直接添加到节点初表示上；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）式中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是由节点出度和入度实例化的可学习嵌入向量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13" y="4580227"/>
                <a:ext cx="6732251" cy="1289905"/>
              </a:xfrm>
              <a:prstGeom prst="rect">
                <a:avLst/>
              </a:prstGeom>
              <a:blipFill rotWithShape="1">
                <a:blip r:embed="rId6"/>
                <a:stretch>
                  <a:fillRect l="-4" t="-47" r="4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846" y="5862851"/>
            <a:ext cx="3120898" cy="569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华光粗黑_CNKI" panose="02000500000000000000" pitchFamily="2" charset="-122"/>
                <a:ea typeface="华光粗黑_CNKI" panose="02000500000000000000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华光粗黑_CNKI" panose="02000500000000000000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80612" y="1024954"/>
                <a:ext cx="11820888" cy="1831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图结构编码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空间编码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Transformer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架构的优势之一在于全局接受野，即每个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token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都能聚合序列中任意位置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token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的信息；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）在计算注意力权重时，增加空间矩阵项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  <m:sub>
                        <m:r>
                          <a:rPr lang="zh-CN" alt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𝝓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𝜙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为图谱最小路径描述矩阵，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的最小路径长度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b="1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𝝓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实例化的可学习向量参数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图结构编码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连边编码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）在图网络中，连边和节点一样是图拓扑结构的重要元素之一；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）在上述计算注意力权重时，再增加连边注意力分数；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条连边特征向量，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为可学习的权重参数向量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12" y="1024954"/>
                <a:ext cx="11820888" cy="1831848"/>
              </a:xfrm>
              <a:prstGeom prst="rect">
                <a:avLst/>
              </a:prstGeom>
              <a:blipFill rotWithShape="1">
                <a:blip r:embed="rId1"/>
                <a:stretch>
                  <a:fillRect l="-2" t="-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648536" y="6528816"/>
            <a:ext cx="8477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[1] Do Transformers Really Perform Bad  for Graph Representation? (NIPS, 2021)</a:t>
            </a:r>
            <a:endParaRPr lang="zh-CN" altLang="en-US" sz="16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57" y="4090858"/>
            <a:ext cx="2862973" cy="720844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85352" y="4988468"/>
            <a:ext cx="331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传统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Transformer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自注意力机制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033" y="3001690"/>
            <a:ext cx="5517358" cy="6934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948380" y="3032578"/>
            <a:ext cx="1336972" cy="63170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375394" y="3063989"/>
            <a:ext cx="750318" cy="631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9193355" y="3063989"/>
            <a:ext cx="439015" cy="631704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639791" y="3574473"/>
            <a:ext cx="1953491" cy="10079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80614" y="2886505"/>
            <a:ext cx="6531914" cy="680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图结构表示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：类似于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[CLS]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，增加虚拟节点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[VNODE]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，其于所有节点均相连，将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[VNODE]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表示作为图表示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96" y="3596715"/>
            <a:ext cx="4125674" cy="2938932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4455686" y="3937438"/>
            <a:ext cx="3659614" cy="1594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弊端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忽略了图结构层次信息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：在进行空间编码时，仅仅依据两个节点是否相连，那么这就造成中心节点的一级邻居节点和二级邻居节点地位一致；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455686" y="5492750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重要节点定义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：目前的依据是节点的连边数量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即出入度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，这忽略了连边质量对重要节点的影响，即被质量高的节点链接也会让这个节点更重要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987869"/>
            <a:ext cx="5943600" cy="1960400"/>
          </a:xfrm>
          <a:prstGeom prst="rect">
            <a:avLst/>
          </a:prstGeom>
        </p:spPr>
      </p:pic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华光粗黑_CNKI" panose="02000500000000000000" pitchFamily="2" charset="-122"/>
                <a:ea typeface="华光粗黑_CNKI" panose="02000500000000000000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华光粗黑_CNKI" panose="02000500000000000000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80613" y="1440594"/>
                <a:ext cx="6199867" cy="2357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任务领域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：时序图谱补全，给定一系列已知四元组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和未知四元组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,?,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，预测其中缺失的实体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背景知识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现有的工作直接将时间信息融合到节点表示当中，并没有很好的考虑到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TKG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的结构信息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创新点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：摒弃传统的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建模图结构信息的方案，将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的思想与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PLM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中注意力计算相结合，从而利用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PLM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来学习图结构和节点时间信息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13" y="1440594"/>
                <a:ext cx="6199867" cy="2357890"/>
              </a:xfrm>
              <a:prstGeom prst="rect">
                <a:avLst/>
              </a:prstGeom>
              <a:blipFill rotWithShape="1">
                <a:blip r:embed="rId2"/>
                <a:stretch>
                  <a:fillRect l="-4" t="-18" r="10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33859" y="876832"/>
            <a:ext cx="3200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4472C4"/>
                </a:solidFill>
                <a:latin typeface="华光大黑_CNKI" panose="02000500000000000000" pitchFamily="2" charset="-122"/>
                <a:ea typeface="华光大黑_CNKI" panose="02000500000000000000" pitchFamily="2" charset="-122"/>
              </a:rPr>
              <a:t>Attention Variant</a:t>
            </a:r>
            <a:endParaRPr lang="zh-CN" altLang="en-US" sz="2400" b="1" dirty="0">
              <a:solidFill>
                <a:srgbClr val="4472C4"/>
              </a:solidFill>
              <a:ea typeface="华光大黑_CNKI" panose="02000500000000000000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859" y="6528816"/>
            <a:ext cx="12098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Learning Joint Structural and Temporal Contextualized Knowledge Embeddings for Temporal Knowledge Graph Completion (ACL, 2023)</a:t>
            </a:r>
            <a:endParaRPr lang="zh-CN" alt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137729"/>
            <a:ext cx="5915387" cy="320162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155" y="3831059"/>
            <a:ext cx="3982776" cy="2607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华光粗黑_CNKI" panose="02000500000000000000" pitchFamily="2" charset="-122"/>
                <a:ea typeface="华光粗黑_CNKI" panose="02000500000000000000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华光粗黑_CNKI" panose="02000500000000000000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80613" y="1440594"/>
                <a:ext cx="5282228" cy="36806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1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）子图检索，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query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四元组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为锚点，从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TKG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中检索出与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相邻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的子图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）子图线性化，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对于子图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，将其拓展为树状结构，具体而言，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树主干为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，支干为不同时间戳的三元组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2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：结构矩阵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限制自关注区域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）对于子图中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token (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灰色数字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(1,2,3)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为同一元组，因此结构矩阵中的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在计算注意力分数时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相互可见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）对于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(7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组合，由于其不在同一元组，因此计算注意力时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不可见</a:t>
                </a:r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即结构矩阵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计算如下：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13" y="1440594"/>
                <a:ext cx="5282228" cy="3680623"/>
              </a:xfrm>
              <a:prstGeom prst="rect">
                <a:avLst/>
              </a:prstGeom>
              <a:blipFill rotWithShape="1">
                <a:blip r:embed="rId1"/>
                <a:stretch>
                  <a:fillRect l="-5" t="-11" r="11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33859" y="876832"/>
            <a:ext cx="49021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4472C4"/>
                </a:solidFill>
                <a:latin typeface="华光大黑_CNKI" panose="02000500000000000000" pitchFamily="2" charset="-122"/>
                <a:ea typeface="华光大黑_CNKI" panose="02000500000000000000" pitchFamily="2" charset="-122"/>
              </a:rPr>
              <a:t>The proposed model -- </a:t>
            </a:r>
            <a:r>
              <a:rPr lang="en-US" altLang="zh-CN" b="1" dirty="0" err="1">
                <a:solidFill>
                  <a:srgbClr val="4472C4"/>
                </a:solidFill>
                <a:latin typeface="华光大黑_CNKI" panose="02000500000000000000" pitchFamily="2" charset="-122"/>
                <a:ea typeface="华光大黑_CNKI" panose="02000500000000000000" pitchFamily="2" charset="-122"/>
              </a:rPr>
              <a:t>SToKE</a:t>
            </a:r>
            <a:endParaRPr lang="zh-CN" altLang="en-US" sz="2400" b="1" dirty="0">
              <a:solidFill>
                <a:srgbClr val="4472C4"/>
              </a:solidFill>
              <a:ea typeface="华光大黑_CNKI" panose="02000500000000000000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859" y="6528816"/>
            <a:ext cx="12098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Learning Joint Structural and Temporal Contextualized Knowledge Embeddings for Temporal Knowledge Graph Completion (ACL, 2023)</a:t>
            </a:r>
            <a:endParaRPr lang="zh-CN" alt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672" y="770449"/>
            <a:ext cx="6817328" cy="368979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462841" y="3525520"/>
            <a:ext cx="6640990" cy="934720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43" y="5181400"/>
            <a:ext cx="2527357" cy="5908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844800" y="5215195"/>
            <a:ext cx="1324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表示两者是否是同一元组</a:t>
            </a:r>
            <a:endParaRPr lang="zh-CN" altLang="en-US" sz="1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5321739" y="4635311"/>
            <a:ext cx="6810571" cy="34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层自注意力层构成，将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作为计算注意力权重的一部分：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97" y="5875539"/>
            <a:ext cx="3104380" cy="594455"/>
          </a:xfrm>
          <a:prstGeom prst="rect">
            <a:avLst/>
          </a:prstGeom>
        </p:spPr>
      </p:pic>
      <p:sp>
        <p:nvSpPr>
          <p:cNvPr id="19" name="矩形: 圆角 18"/>
          <p:cNvSpPr/>
          <p:nvPr/>
        </p:nvSpPr>
        <p:spPr>
          <a:xfrm>
            <a:off x="2148583" y="5250479"/>
            <a:ext cx="672662" cy="283779"/>
          </a:xfrm>
          <a:prstGeom prst="roundRect">
            <a:avLst/>
          </a:prstGeom>
          <a:solidFill>
            <a:srgbClr val="FF0000">
              <a:alpha val="38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321739" y="5000568"/>
            <a:ext cx="6896597" cy="1581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可行性分析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：子图中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相互不可见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M[7,10]=-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∞，因此经过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二者的注意力分数为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，意味着两个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直接互相影响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但是由于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M[4,7]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M[4,9]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M[9,10]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是相互可见的，因此经过多层注意力后，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emb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还是会互相影响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  <a:ln>
          <a:solidFill>
            <a:srgbClr val="FFC000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2025</Words>
  <Application>WPS 演示</Application>
  <PresentationFormat>宽屏</PresentationFormat>
  <Paragraphs>60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华光粗黑_CNKI</vt:lpstr>
      <vt:lpstr>黑体</vt:lpstr>
      <vt:lpstr>微软雅黑</vt:lpstr>
      <vt:lpstr>Cambria Math</vt:lpstr>
      <vt:lpstr>华光大黑_CNKI</vt:lpstr>
      <vt:lpstr>楷体</vt:lpstr>
      <vt:lpstr>Times New Roman</vt:lpstr>
      <vt:lpstr>PingFang SC</vt:lpstr>
      <vt:lpstr>AMGDT</vt:lpstr>
      <vt:lpstr>等线</vt:lpstr>
      <vt:lpstr>Arial Unicode MS</vt:lpstr>
      <vt:lpstr>等线 Light</vt:lpstr>
      <vt:lpstr>PingFang SC</vt:lpstr>
      <vt:lpstr>Wingdings</vt:lpstr>
      <vt:lpstr>华光大黑_CNKI</vt:lpstr>
      <vt:lpstr>华光粗黑_CNKI</vt:lpstr>
      <vt:lpstr>华光钢铁直黑 粗黑</vt:lpstr>
      <vt:lpstr>兰米大黑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基于Mindspore的预训练语言模型开发</dc:title>
  <dc:creator>a</dc:creator>
  <cp:lastModifiedBy>Flechazo</cp:lastModifiedBy>
  <cp:revision>4548</cp:revision>
  <dcterms:created xsi:type="dcterms:W3CDTF">2022-03-24T04:01:00Z</dcterms:created>
  <dcterms:modified xsi:type="dcterms:W3CDTF">2026-10-22T07:10:30Z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7C008CA1EEDF42858354D28D5BF989FE_13</vt:lpwstr>
  </property>
  <property fmtid="{D5CDD505-2E9C-101B-9397-08002B2CF9AE}" pid="3" name="KSOProductBuildVer">
    <vt:lpwstr>2052-12.1.0.29161</vt:lpwstr>
  </property>
</Properties>
</file>