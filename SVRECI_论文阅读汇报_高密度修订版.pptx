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effectLst/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effectLst/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  <a:effectLst/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effectLst/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effectLst/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effectLst/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effectLst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effectLst/>
        </p:spPr>
        <p:txBody>
          <a:bodyPr/>
          <a:lstStyle/>
          <a:p>
            <a:r>
              <a:t>前两页设计为可独立完成论文阅读汇报。本页采用示例第3页的位置关系：渐变论文阅读页眉、左上蓝色标题、左侧任务/背景/创新点密集正文，右上论文题录、右下算法框架，左下因果主干示意。背景不足来自引言与相关工作：独立事件对忽略全局主干与角色分化，图模型受噪声边影响，缺少叙事一致性验证与迭代修正。创新的核心是Suggest–Verify–Revise动态演化框架，THP全局一致性验证和结构感知的双层对比。对比方法由当前图动态采样。证据来自表1：ESC总体65.0相对EHNEM62.8增加2.2个百分点；CTB句内64.5相对PPAT62.4增加2.1。此处存在性识别结果与方向性评测分开。图均原生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effectLst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effectLst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effectLst/>
        </p:spPr>
        <p:txBody>
          <a:bodyPr/>
          <a:lstStyle/>
          <a:p>
            <a:r>
              <a:t>第二页可作为完整算法汇报页，布局逐项对应示例第4页。Step1先形成两类软先验，LLM的四维分数取均值，结构超图不含因果标签及方向假设。融合参数β1/β2可学习。Step2的核心λ_j=μ_j+Σ_(i→j)α_(i→j)^(l)κ(t_j-t_i)I[(i,j)∈A]。THP在最新候选结构上优化式7负对数似然，并产生式8边权。附录D强调离散叙事时间用于全局一致性，而非拟合真实连续时间。Step3采用异构图注意力传播和式11有向重评分，事件级对比约束角色一致，事件对级区分形似因果的非因果对。动态图达到初步收敛后才逐渐引入结构对比项：事件级3epoch预热，事件对级从epoch10开始。THP与判别训练交替优化，不能把J_THP任意并入式15。训练标签用于构造对比样本，推理不使用标签。表2消融IR：65.0→60.8。作者局限为提示敏感性及时间代理噪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effectLst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effectLst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effectLst/>
        </p:spPr>
        <p:txBody>
          <a:bodyPr/>
          <a:lstStyle/>
          <a:p>
            <a:r>
              <a:t>LLM启发式的四个维度是语义、因果角色、依存与时序，整体分数为四维置信度的平均值，K=4。超图不包含因果标签或方向假设。结构特征一是共享超边比例，二是两个归一化位置分量的平均绝对差，三是两个节点超图度的均值。特征聚合得到结构先验。右上两组提及用于说明共指超边，非因果边。LLM先验与结构先验的融合在下一页式6展开。来源：§3.1及附录B、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effectLst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effectLst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effectLst/>
        </p:spPr>
        <p:txBody>
          <a:bodyPr/>
          <a:lstStyle/>
          <a:p>
            <a:r>
              <a:t>关键公式来自式5至8，负对数似然为便于展示略去求和边界：J_THP=-Σ_j log λ_j(t_j)+Σ_j ∫_0^{t_j}λ_j(t)dt。μ_j是固定叙事先验，保证没有父节点也保留独立叙事单元；κ随叙事距离衰减；A每轮随候选结构更新。β1、β2可学习，以融合LLM与超图建议。THP联合校准各边，抑制局部合理却与全篇叙事不一致的边。注意附录D明确说明叙事顺序是软先验，并非硬删除规则；THP不用于恢复真实连续时间，也不构成干预因果识别。返回给修正模块的是一致性校准后的边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effectLst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effectLst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effectLst/>
        </p:spPr>
        <p:txBody>
          <a:bodyPr/>
          <a:lstStyle/>
          <a:p>
            <a:r>
              <a:t>本页左图仅演示低一致性候选被抑制，不对应论文中的具体样本，且不表示所有逆序边都被硬剪枝。式11使用有序拼接与目标减源的表示差，体现方向性。附录E在有有效边时采用异构图注意力传播，无有效边时使用线性语义更新；边类型区分intra/inter，并通过残差门控融合自身与图表示。式9以随训练进程递增的λ_t混合初始边权与随机扰动，缓解早期过度依赖先验。附录H采用EMA更新边权，系数0.6。迭代修正图后回到THP继续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effectLst/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effectLst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effectLst/>
        </p:spPr>
        <p:txBody>
          <a:bodyPr/>
          <a:lstStyle/>
          <a:p>
            <a:r>
              <a:t>两种损失均以附录F精确定义为准，页面展示式38和43的等价简写。事件级结构表示拼接节点自身、邻居均值及平均边权，映射并归一化后得到z。正例要求角色一致，再结合语义与结构相似度选取；困难负例角色不一致且结构最相似，随机负例为简单负例，InfoNCE分母困难负例权重2。左侧只演示类因与类果的方向区别，真实角色可更复杂。事件对级表示包含z_i、z_j、绝对差与逐元素积。因果事件对为正例，非因果集合按hardness选择top-K困难负例，然后用margin ranking拉开边界。采样随当前图动态更新，训练标签用于正负集合划分，不能在推理时使用测试标签。结构对比项在图初步收敛后才开启。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effectLst/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effectLst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effectLst/>
        </p:spPr>
        <p:txBody>
          <a:bodyPr/>
          <a:lstStyle/>
          <a:p>
            <a:r>
              <a:t>所有数值均核对PDF表1（PDF第7页，印刷页19073）。本页展示标准因果存在性识别，不与表4额外方向性评测混用。增益均为F1百分点：ESC总体相对原表最佳基线EHNEM为65.0-62.8=2.2；ESC跨句61.9-61.0=0.9；CTB句内相对PPAT为64.5-62.4=2.1。ESC句内最佳先前表值iLIF71.2，SVRECI71.9。表1中DeepSeek-v3.2为LLM零样本基线，不能等同于SVRECI中的建议模块。作者指出LLM容易高召回低精确率，而结构验证强调可靠边。原文宣称句内跨句差距不足10，但数值71.9-61.9恰为10.0，本汇报不沿用该不精确措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effectLst/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effectLst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effectLst/>
        </p:spPr>
        <p:txBody>
          <a:bodyPr/>
          <a:lstStyle/>
          <a:p>
            <a:r>
              <a:t>表2给出完整模型ESC总体65.0，去掉SG61.6、TV62.2、IR60.8、CL62.1。表3单步更新变体-iter.为61.5。本页条形画的是相对完整模型下降的百分点，不是原始F1柱状图。移除IR下降4.2点最大；单步更新下降3.5，支持迭代反馈而非只进行一次图更新。不能从独立消融简单推断各模块贡献可线性相加。作者在局限章节指出提示敏感性和句序代理带来的时间噪声。倒叙鲁棒性及计算开销为本汇报的阅读思考，不是论文已完成实验。收尾重申本工作把LLM建议作为可校验候选，用全局叙事结构和双层判别目标反复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effectLst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effectLst/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effectLst/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effectLst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effectLst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effectLst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effectLst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effectLst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effectLst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effectLst/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effectLst/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effectLst/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effectLst/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effectLst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effectLst/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effectLst/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effectLst/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effectLst/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effectLst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effectLst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effectLst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32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742950" indent="-285750" algn="l" defTabSz="457200" rtl="0" eaLnBrk="1" latinLnBrk="0" hangingPunct="1">
        <a:spcBef>
          <a:spcPct val="20000"/>
        </a:spcBef>
        <a:buFont typeface="微软雅黑" panose="020B0503020204020204" charset="-122"/>
        <a:buChar char="–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–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»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6pPr>
      <a:lvl7pPr marL="29718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7pPr>
      <a:lvl8pPr marL="34290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8pPr>
      <a:lvl9pPr marL="38862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示例同版页眉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  <a:effectLst/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9pPr>
          </a:lstStyle>
          <a:p>
            <a:pPr>
              <a:defRPr/>
            </a:pPr>
            <a:r>
              <a:rPr lang="zh-CN" altLang="en-US" sz="4800" kern="0" dirty="0">
                <a:solidFill>
                  <a:prstClr val="black"/>
                </a:solidFill>
                <a:latin typeface="黑体" panose="02010609060101010101" pitchFamily="34" charset="-122"/>
                <a:ea typeface="黑体" panose="02010609060101010101" pitchFamily="34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黑体" panose="02010609060101010101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872" y="941832"/>
            <a:ext cx="265176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210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344" y="937259"/>
            <a:ext cx="11567160" cy="41338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4472C4"/>
                </a:solidFill>
                <a:cs typeface="黑体" panose="02010609060101010101" pitchFamily="34" charset="-122"/>
              </a:rPr>
              <a:t>SVRECI</a:t>
            </a:r>
            <a:endParaRPr lang="zh-CN" sz="2400" b="1">
              <a:solidFill>
                <a:srgbClr val="4472C4"/>
              </a:solidFill>
              <a:cs typeface="黑体" panose="02010609060101010101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" y="6528816"/>
            <a:ext cx="12097512" cy="3017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Suggest-Verify-Revise: A Three-Stage Document-Level Event Causality Identification with Narrative Consistency (ACL, 2026)</a:t>
            </a:r>
            <a:endParaRPr lang="zh-CN" sz="122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" y="1531619"/>
            <a:ext cx="21031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6072" y="1527048"/>
            <a:ext cx="5486400" cy="8046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任务领域：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文档级事件因果识别（DECI）。给定文档 D 与事件集合 E={e₁,…,eₙ}，识别任意事件对的因果关系；进一步判断“因→果”方向，形成文档级因果图。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" y="2400300"/>
            <a:ext cx="21031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" y="2395728"/>
            <a:ext cx="5486400" cy="1352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背景知识：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因果边通过跨句依赖形成</a:t>
            </a: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叙事主干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；共指提及指向同一概念事件，一个事件可兼任“因/果”。</a:t>
            </a: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先前工作不足：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1）独立事件对判别忽略全局关系；2）局部相似易把共现当因果，难区分多因多果角色；3）静态图缺乏</a:t>
            </a:r>
            <a:r>
              <a:rPr lang="en-US" alt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验证—修正</a:t>
            </a:r>
            <a:r>
              <a:rPr lang="en-US" alt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，初始噪声会沿图传播。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" y="3863339"/>
            <a:ext cx="21031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6072" y="3858768"/>
            <a:ext cx="5486400" cy="12984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创新点：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1）</a:t>
            </a: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Suggest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：融合 LLM 四维启发式与共指超图，提供多源软先验；2）</a:t>
            </a: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Verify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：以拓扑 Hawkes 过程（THP）检验叙事传播一致性；3）</a:t>
            </a: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Revise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：动态图迭代修正，并以事件级 / 事件对级结构对比学习分别约束因果角色和关系边界。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230368"/>
            <a:ext cx="5394960" cy="231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叙事主干与多因多果</a:t>
            </a:r>
            <a:endParaRPr lang="zh-CN" sz="13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3504" y="5596128"/>
            <a:ext cx="905256" cy="356616"/>
          </a:xfrm>
          <a:prstGeom prst="rect">
            <a:avLst/>
          </a:prstGeom>
          <a:solidFill>
            <a:srgbClr val="F0F4FB"/>
          </a:solidFill>
          <a:ln w="889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618988"/>
            <a:ext cx="832104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枪击</a:t>
            </a:r>
            <a:endParaRPr lang="zh-CN" sz="135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73352" y="5596128"/>
            <a:ext cx="905256" cy="356616"/>
          </a:xfrm>
          <a:prstGeom prst="rect">
            <a:avLst/>
          </a:prstGeom>
          <a:solidFill>
            <a:srgbClr val="F0F4FB"/>
          </a:solidFill>
          <a:ln w="889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09928" y="5618988"/>
            <a:ext cx="832104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被杀</a:t>
            </a:r>
            <a:endParaRPr lang="zh-CN" sz="135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0" y="5596128"/>
            <a:ext cx="905256" cy="356616"/>
          </a:xfrm>
          <a:prstGeom prst="rect">
            <a:avLst/>
          </a:prstGeom>
          <a:solidFill>
            <a:srgbClr val="F0F4FB"/>
          </a:solidFill>
          <a:ln w="889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9776" y="5618988"/>
            <a:ext cx="832104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死亡</a:t>
            </a:r>
            <a:endParaRPr lang="zh-CN" sz="135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13048" y="5596128"/>
            <a:ext cx="905256" cy="356616"/>
          </a:xfrm>
          <a:prstGeom prst="rect">
            <a:avLst/>
          </a:prstGeom>
          <a:solidFill>
            <a:srgbClr val="F0F4FB"/>
          </a:solidFill>
          <a:ln w="889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9624" y="5618988"/>
            <a:ext cx="832104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愤怒</a:t>
            </a:r>
            <a:endParaRPr lang="zh-CN" sz="135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82896" y="5596128"/>
            <a:ext cx="905256" cy="356616"/>
          </a:xfrm>
          <a:prstGeom prst="rect">
            <a:avLst/>
          </a:prstGeom>
          <a:solidFill>
            <a:srgbClr val="F0F4FB"/>
          </a:solidFill>
          <a:ln w="889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9472" y="5618988"/>
            <a:ext cx="832104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骚乱</a:t>
            </a:r>
            <a:endParaRPr lang="zh-CN" sz="135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1517904" y="5774436"/>
            <a:ext cx="146303" cy="0"/>
          </a:xfrm>
          <a:prstGeom prst="line">
            <a:avLst/>
          </a:prstGeom>
          <a:ln w="1397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587752" y="5774436"/>
            <a:ext cx="146304" cy="0"/>
          </a:xfrm>
          <a:prstGeom prst="line">
            <a:avLst/>
          </a:prstGeom>
          <a:ln w="1397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57600" y="5774436"/>
            <a:ext cx="146304" cy="0"/>
          </a:xfrm>
          <a:prstGeom prst="line">
            <a:avLst/>
          </a:prstGeom>
          <a:ln w="1397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27448" y="5774436"/>
            <a:ext cx="146304" cy="0"/>
          </a:xfrm>
          <a:prstGeom prst="line">
            <a:avLst/>
          </a:prstGeom>
          <a:ln w="1397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6099048"/>
            <a:ext cx="544068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3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共指聚合：</a:t>
            </a:r>
            <a:r>
              <a:rPr lang="zh-CN" sz="133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killed / killing；</a:t>
            </a:r>
            <a:r>
              <a:rPr lang="zh-CN" sz="133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角色共享：</a:t>
            </a:r>
            <a:r>
              <a:rPr lang="zh-CN" sz="133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多因 → 同一事件 → 多果。</a:t>
            </a:r>
            <a:endParaRPr lang="zh-CN" sz="133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45352" y="1042415"/>
            <a:ext cx="5916168" cy="8138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3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Suggest-Verify-Revise: A Three-Stage</a:t>
            </a:r>
            <a:endParaRPr lang="zh-CN" sz="173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3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Document-Level Event Causality Identification</a:t>
            </a:r>
            <a:endParaRPr lang="zh-CN" sz="173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3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with Narrative Consistency</a:t>
            </a:r>
            <a:endParaRPr lang="zh-CN" sz="173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81928" y="1984248"/>
            <a:ext cx="5843016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Ya Su, Hu Zhang*, Dan Qiao, Yujie Wang, Yunxiao Zhao,</a:t>
            </a:r>
            <a:endParaRPr lang="zh-CN" sz="125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Yue Fan, Shike Li, Ru Li, Hongye Tan</a:t>
            </a:r>
            <a:endParaRPr lang="zh-CN" sz="125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81928" y="2523744"/>
            <a:ext cx="5843016" cy="3383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山西大学 · 计算机与信息技术学院</a:t>
            </a:r>
            <a:endParaRPr lang="zh-CN" sz="122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计算智能与中文信息处理教育部重点实验室</a:t>
            </a:r>
            <a:endParaRPr lang="zh-CN" sz="122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81928" y="2898648"/>
            <a:ext cx="5843016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ACL 2026 · Long Papers · pp. 19067–19091</a:t>
            </a:r>
            <a:endParaRPr lang="zh-CN" sz="122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245352" y="3227832"/>
            <a:ext cx="5916168" cy="2788920"/>
          </a:xfrm>
          <a:prstGeom prst="rect">
            <a:avLst/>
          </a:prstGeom>
          <a:solidFill>
            <a:srgbClr val="FFFFFF"/>
          </a:solidFill>
          <a:ln w="10160">
            <a:solidFill>
              <a:srgbClr val="A4A4A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2240" y="3337560"/>
            <a:ext cx="5662391" cy="320040"/>
          </a:xfrm>
          <a:prstGeom prst="rect">
            <a:avLst/>
          </a:prstGeom>
          <a:solidFill>
            <a:srgbClr val="F0F4FB"/>
          </a:solidFill>
          <a:ln w="889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8816" y="3360420"/>
            <a:ext cx="5589239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 + 事件提及 → BERT 编码 → 事件表示</a:t>
            </a:r>
            <a:endParaRPr lang="zh-CN" sz="126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372240" y="3822191"/>
            <a:ext cx="1776436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8816" y="3886200"/>
            <a:ext cx="1703284" cy="2651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(a) Suggest：建议</a:t>
            </a:r>
            <a:endParaRPr lang="zh-CN" sz="126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315217" y="3822191"/>
            <a:ext cx="1776436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C8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1793" y="3886200"/>
            <a:ext cx="1703284" cy="2651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1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(b) Verify：验证</a:t>
            </a:r>
            <a:endParaRPr lang="zh-CN" sz="1260" b="1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258195" y="3822191"/>
            <a:ext cx="1776436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67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94771" y="3886200"/>
            <a:ext cx="1703284" cy="2651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1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(c) Revise：修正</a:t>
            </a:r>
            <a:endParaRPr lang="zh-CN" sz="1260" b="1">
              <a:solidFill>
                <a:srgbClr val="B67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451545" y="4261104"/>
            <a:ext cx="1617826" cy="402336"/>
          </a:xfrm>
          <a:prstGeom prst="rect">
            <a:avLst/>
          </a:prstGeom>
          <a:solidFill>
            <a:srgbClr val="EDF3FC"/>
          </a:solidFill>
          <a:ln w="889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8121" y="4283964"/>
            <a:ext cx="1544674" cy="3566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LLM：语义 / 角色</a:t>
            </a:r>
            <a:endParaRPr lang="zh-CN" sz="116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依存 / 时序</a:t>
            </a:r>
            <a:endParaRPr lang="zh-CN" sz="116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451545" y="4754879"/>
            <a:ext cx="1617826" cy="356616"/>
          </a:xfrm>
          <a:prstGeom prst="rect">
            <a:avLst/>
          </a:prstGeom>
          <a:solidFill>
            <a:srgbClr val="EDF3FC"/>
          </a:solidFill>
          <a:ln w="889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88121" y="4777740"/>
            <a:ext cx="1544674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共指超图：结构建议</a:t>
            </a:r>
            <a:endParaRPr lang="zh-CN" sz="116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45392" y="5221224"/>
            <a:ext cx="1630132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融合软先验 α</a:t>
            </a:r>
            <a:endParaRPr lang="zh-CN" sz="126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394522" y="4261104"/>
            <a:ext cx="1617826" cy="402336"/>
          </a:xfrm>
          <a:prstGeom prst="rect">
            <a:avLst/>
          </a:prstGeom>
          <a:solidFill>
            <a:srgbClr val="EDF7F6"/>
          </a:solidFill>
          <a:ln w="8890">
            <a:solidFill>
              <a:srgbClr val="3C8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1098" y="4283964"/>
            <a:ext cx="1544674" cy="3566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叙事时间：TLINK</a:t>
            </a:r>
            <a:endParaRPr lang="zh-CN" sz="1160" b="0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或句子顺序代理</a:t>
            </a:r>
            <a:endParaRPr lang="zh-CN" sz="1160" b="0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394522" y="4754879"/>
            <a:ext cx="1617826" cy="356616"/>
          </a:xfrm>
          <a:prstGeom prst="rect">
            <a:avLst/>
          </a:prstGeom>
          <a:solidFill>
            <a:srgbClr val="EDF7F6"/>
          </a:solidFill>
          <a:ln w="8890">
            <a:solidFill>
              <a:srgbClr val="3C8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31098" y="4777740"/>
            <a:ext cx="1544674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THP 全局一致性校准</a:t>
            </a:r>
            <a:endParaRPr lang="zh-CN" sz="1160" b="0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370081" y="5221224"/>
            <a:ext cx="1666708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1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输出校准边权 W</a:t>
            </a:r>
            <a:endParaRPr lang="zh-CN" sz="1260" b="1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0337500" y="4261104"/>
            <a:ext cx="1617826" cy="402336"/>
          </a:xfrm>
          <a:prstGeom prst="rect">
            <a:avLst/>
          </a:prstGeom>
          <a:solidFill>
            <a:srgbClr val="FBF5EC"/>
          </a:solidFill>
          <a:ln w="8890">
            <a:solidFill>
              <a:srgbClr val="B67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74076" y="4283964"/>
            <a:ext cx="1544674" cy="3566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句内 / 跨句图传播</a:t>
            </a:r>
            <a:endParaRPr lang="zh-CN" sz="1160" b="0">
              <a:solidFill>
                <a:srgbClr val="B67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更新事件表示</a:t>
            </a:r>
            <a:endParaRPr lang="zh-CN" sz="1160" b="0">
              <a:solidFill>
                <a:srgbClr val="B67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0337500" y="4754879"/>
            <a:ext cx="1617826" cy="356616"/>
          </a:xfrm>
          <a:prstGeom prst="rect">
            <a:avLst/>
          </a:prstGeom>
          <a:solidFill>
            <a:srgbClr val="FBF5EC"/>
          </a:solidFill>
          <a:ln w="8890">
            <a:solidFill>
              <a:srgbClr val="B67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74076" y="4777740"/>
            <a:ext cx="1544674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双层结构对比学习</a:t>
            </a:r>
            <a:endParaRPr lang="zh-CN" sz="1160" b="0">
              <a:solidFill>
                <a:srgbClr val="B67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313059" y="5221224"/>
            <a:ext cx="1666708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1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重评分 → 更新图</a:t>
            </a:r>
            <a:endParaRPr lang="zh-CN" sz="1260" b="1">
              <a:solidFill>
                <a:srgbClr val="B67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8171536" y="4608576"/>
            <a:ext cx="120821" cy="0"/>
          </a:xfrm>
          <a:prstGeom prst="line">
            <a:avLst/>
          </a:prstGeom>
          <a:ln w="1397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114514" y="4608576"/>
            <a:ext cx="120821" cy="0"/>
          </a:xfrm>
          <a:prstGeom prst="line">
            <a:avLst/>
          </a:prstGeom>
          <a:ln w="1397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146413" y="5468112"/>
            <a:ext cx="0" cy="173736"/>
          </a:xfrm>
          <a:prstGeom prst="line">
            <a:avLst/>
          </a:prstGeom>
          <a:ln w="15875">
            <a:solidFill>
              <a:srgbClr val="B67D3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9203436" y="5641848"/>
            <a:ext cx="1942977" cy="0"/>
          </a:xfrm>
          <a:prstGeom prst="line">
            <a:avLst/>
          </a:prstGeom>
          <a:ln w="15875">
            <a:solidFill>
              <a:srgbClr val="B67D3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203436" y="5468112"/>
            <a:ext cx="0" cy="173736"/>
          </a:xfrm>
          <a:prstGeom prst="line">
            <a:avLst/>
          </a:prstGeom>
          <a:ln w="15875">
            <a:solidFill>
              <a:srgbClr val="B67D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388369" y="5705856"/>
            <a:ext cx="3681710" cy="2651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修正图返回 THP，继续验证—修正</a:t>
            </a:r>
            <a:endParaRPr lang="zh-CN" sz="1160" b="0">
              <a:solidFill>
                <a:srgbClr val="B67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81928" y="6135624"/>
            <a:ext cx="585216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主要结果：</a:t>
            </a:r>
            <a:r>
              <a:rPr lang="zh-CN"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ESC 总体 F1 65.0（+2.2）；CTB 句内 64.5（+2.1）。</a:t>
            </a:r>
            <a:endParaRPr lang="zh-CN"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示例同版页眉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  <a:effectLst/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9pPr>
          </a:lstStyle>
          <a:p>
            <a:pPr>
              <a:defRPr/>
            </a:pPr>
            <a:r>
              <a:rPr lang="zh-CN" altLang="en-US" sz="4800" kern="0" dirty="0">
                <a:solidFill>
                  <a:prstClr val="black"/>
                </a:solidFill>
                <a:latin typeface="黑体" panose="02010609060101010101" pitchFamily="34" charset="-122"/>
                <a:ea typeface="黑体" panose="02010609060101010101" pitchFamily="34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黑体" panose="02010609060101010101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872" y="941832"/>
            <a:ext cx="265176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210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344" y="937259"/>
            <a:ext cx="11567160" cy="41338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4472C4"/>
                </a:solidFill>
                <a:cs typeface="黑体" panose="02010609060101010101" pitchFamily="34" charset="-122"/>
              </a:rPr>
              <a:t>The proposed model -- SVRECI</a:t>
            </a:r>
            <a:endParaRPr lang="zh-CN" sz="2400" b="1">
              <a:solidFill>
                <a:srgbClr val="4472C4"/>
              </a:solidFill>
              <a:cs typeface="黑体" panose="02010609060101010101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" y="6528816"/>
            <a:ext cx="12097512" cy="3017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Suggest-Verify-Revise: A Three-Stage Document-Level Event Causality Identification with Narrative Consistency (ACL, 2026)</a:t>
            </a:r>
            <a:endParaRPr lang="zh-CN" sz="122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" y="1540763"/>
            <a:ext cx="21031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6072" y="1536192"/>
            <a:ext cx="4608576" cy="1082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1：多源因果建议。</a:t>
            </a:r>
            <a:r>
              <a:rPr lang="zh-CN" sz="16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）LLM 从语义、因果角色、依存、时序生成四维置信度；</a:t>
            </a:r>
            <a:r>
              <a:rPr lang="en-US" alt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）共指超图提取共享绑定、位置差异、结构中心性；两路融合为</a:t>
            </a: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软先验 α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" y="2875788"/>
            <a:ext cx="21031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" y="2871216"/>
            <a:ext cx="4608576" cy="1082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2：THP 一致性验证</a:t>
            </a:r>
            <a:r>
              <a:rPr lang="en-US" alt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建模叙事一致性</a:t>
            </a: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TLINK 相对时序 / 句序构造叙事时间 t，结合当前图 A、依赖强度 α 和距离衰减核 κ，联合校准边权 W，抑制“局部合理、全局不一致”的边。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" y="3954780"/>
            <a:ext cx="21031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6072" y="3950208"/>
            <a:ext cx="4608576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3：动态图自修正。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句内 / 跨句异构图传播更新表示；利用有向事件对表示重评分，并动态采样开展</a:t>
            </a: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事件级角色对比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事件对级边界对比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。更新图反馈 THP，直至预测稳定（2–9 轮）。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76672" y="859536"/>
            <a:ext cx="6793992" cy="3648456"/>
          </a:xfrm>
          <a:prstGeom prst="rect">
            <a:avLst/>
          </a:prstGeom>
          <a:solidFill>
            <a:srgbClr val="FFFFFF"/>
          </a:solidFill>
          <a:ln w="10160">
            <a:solidFill>
              <a:srgbClr val="A4A4A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22387" y="969264"/>
            <a:ext cx="6502560" cy="320040"/>
          </a:xfrm>
          <a:prstGeom prst="rect">
            <a:avLst/>
          </a:prstGeom>
          <a:solidFill>
            <a:srgbClr val="F0F4FB"/>
          </a:solidFill>
          <a:ln w="889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8963" y="992124"/>
            <a:ext cx="642940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 + 事件提及 → BERT 编码 → 事件表示</a:t>
            </a:r>
            <a:endParaRPr lang="zh-CN" sz="145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22387" y="1453895"/>
            <a:ext cx="2040019" cy="1901952"/>
          </a:xfrm>
          <a:prstGeom prst="rect">
            <a:avLst/>
          </a:prstGeom>
          <a:solidFill>
            <a:srgbClr val="FFFFFF"/>
          </a:solidFill>
          <a:ln w="1016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8963" y="1517904"/>
            <a:ext cx="1966867" cy="2651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(a) Suggest：建议</a:t>
            </a:r>
            <a:endParaRPr lang="zh-CN" sz="14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53658" y="1453895"/>
            <a:ext cx="2040019" cy="1901952"/>
          </a:xfrm>
          <a:prstGeom prst="rect">
            <a:avLst/>
          </a:prstGeom>
          <a:solidFill>
            <a:srgbClr val="FFFFFF"/>
          </a:solidFill>
          <a:ln w="10160">
            <a:solidFill>
              <a:srgbClr val="3C8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234" y="1517904"/>
            <a:ext cx="1966867" cy="2651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(b) Verify：验证</a:t>
            </a:r>
            <a:endParaRPr lang="zh-CN" sz="1450" b="1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984929" y="1453895"/>
            <a:ext cx="2040019" cy="1901952"/>
          </a:xfrm>
          <a:prstGeom prst="rect">
            <a:avLst/>
          </a:prstGeom>
          <a:solidFill>
            <a:srgbClr val="FFFFFF"/>
          </a:solidFill>
          <a:ln w="10160">
            <a:solidFill>
              <a:srgbClr val="B67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21505" y="1517904"/>
            <a:ext cx="1966867" cy="2651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(c) Revise：修正</a:t>
            </a:r>
            <a:endParaRPr lang="zh-CN" sz="1450" b="1">
              <a:solidFill>
                <a:srgbClr val="B67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13459" y="1892807"/>
            <a:ext cx="1857874" cy="402336"/>
          </a:xfrm>
          <a:prstGeom prst="rect">
            <a:avLst/>
          </a:prstGeom>
          <a:solidFill>
            <a:srgbClr val="EDF3FC"/>
          </a:solidFill>
          <a:ln w="889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0035" y="1915667"/>
            <a:ext cx="1784722" cy="3566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LLM：语义 / 角色</a:t>
            </a:r>
            <a:endParaRPr lang="zh-CN" sz="135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依存 / 时序</a:t>
            </a:r>
            <a:endParaRPr lang="zh-CN" sz="135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613459" y="2386584"/>
            <a:ext cx="1857874" cy="356616"/>
          </a:xfrm>
          <a:prstGeom prst="rect">
            <a:avLst/>
          </a:prstGeom>
          <a:solidFill>
            <a:srgbClr val="EDF3FC"/>
          </a:solidFill>
          <a:ln w="889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0035" y="2409444"/>
            <a:ext cx="1784722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共指超图：结构建议</a:t>
            </a:r>
            <a:endParaRPr lang="zh-CN" sz="135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95539" y="2852928"/>
            <a:ext cx="1893715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融合软先验 α</a:t>
            </a:r>
            <a:endParaRPr lang="zh-CN" sz="14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844730" y="1892807"/>
            <a:ext cx="1857874" cy="402336"/>
          </a:xfrm>
          <a:prstGeom prst="rect">
            <a:avLst/>
          </a:prstGeom>
          <a:solidFill>
            <a:srgbClr val="EDF7F6"/>
          </a:solidFill>
          <a:ln w="8890">
            <a:solidFill>
              <a:srgbClr val="3C8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81306" y="1915667"/>
            <a:ext cx="1784722" cy="3566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叙事时间：TLINK</a:t>
            </a:r>
            <a:endParaRPr lang="zh-CN" sz="1350" b="0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或句子顺序代理</a:t>
            </a:r>
            <a:endParaRPr lang="zh-CN" sz="1350" b="0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844730" y="2386584"/>
            <a:ext cx="1857874" cy="356616"/>
          </a:xfrm>
          <a:prstGeom prst="rect">
            <a:avLst/>
          </a:prstGeom>
          <a:solidFill>
            <a:srgbClr val="EDF7F6"/>
          </a:solidFill>
          <a:ln w="8890">
            <a:solidFill>
              <a:srgbClr val="3C8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1306" y="2409444"/>
            <a:ext cx="1784722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THP 全局一致性校准</a:t>
            </a:r>
            <a:endParaRPr lang="zh-CN" sz="1350" b="0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08522" y="2852928"/>
            <a:ext cx="1930291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输出校准边权 W</a:t>
            </a:r>
            <a:endParaRPr lang="zh-CN" sz="1450" b="1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0076001" y="1892807"/>
            <a:ext cx="1857874" cy="402336"/>
          </a:xfrm>
          <a:prstGeom prst="rect">
            <a:avLst/>
          </a:prstGeom>
          <a:solidFill>
            <a:srgbClr val="FBF5EC"/>
          </a:solidFill>
          <a:ln w="8890">
            <a:solidFill>
              <a:srgbClr val="B67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12577" y="1915667"/>
            <a:ext cx="1784722" cy="3566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句内 / 跨句图传播</a:t>
            </a:r>
            <a:endParaRPr lang="zh-CN" sz="1350" b="0">
              <a:solidFill>
                <a:srgbClr val="B67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更新事件表示</a:t>
            </a:r>
            <a:endParaRPr lang="zh-CN" sz="1350" b="0">
              <a:solidFill>
                <a:srgbClr val="B67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076001" y="2386584"/>
            <a:ext cx="1857874" cy="356616"/>
          </a:xfrm>
          <a:prstGeom prst="rect">
            <a:avLst/>
          </a:prstGeom>
          <a:solidFill>
            <a:srgbClr val="FBF5EC"/>
          </a:solidFill>
          <a:ln w="8890">
            <a:solidFill>
              <a:srgbClr val="B67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2577" y="2409444"/>
            <a:ext cx="1784722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双层结构对比学习</a:t>
            </a:r>
            <a:endParaRPr lang="zh-CN" sz="1350" b="0">
              <a:solidFill>
                <a:srgbClr val="B67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39793" y="2852928"/>
            <a:ext cx="1930291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重评分 → 更新图</a:t>
            </a:r>
            <a:endParaRPr lang="zh-CN" sz="1450" b="1">
              <a:solidFill>
                <a:srgbClr val="B67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7585266" y="2240279"/>
            <a:ext cx="145532" cy="0"/>
          </a:xfrm>
          <a:prstGeom prst="line">
            <a:avLst/>
          </a:prstGeom>
          <a:ln w="1397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816537" y="2240279"/>
            <a:ext cx="145532" cy="0"/>
          </a:xfrm>
          <a:prstGeom prst="line">
            <a:avLst/>
          </a:prstGeom>
          <a:ln w="1397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558963" y="3172968"/>
            <a:ext cx="196686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候选边：多源初始支撑</a:t>
            </a:r>
            <a:endParaRPr lang="zh-CN" sz="118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90234" y="3172968"/>
            <a:ext cx="196686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约束：全局叙事传播</a:t>
            </a:r>
            <a:endParaRPr lang="zh-CN" sz="118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021505" y="3172968"/>
            <a:ext cx="196686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目标：角色与边界判别</a:t>
            </a:r>
            <a:endParaRPr lang="zh-CN" sz="118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11004938" y="3355848"/>
            <a:ext cx="0" cy="173736"/>
          </a:xfrm>
          <a:prstGeom prst="line">
            <a:avLst/>
          </a:prstGeom>
          <a:ln w="15875">
            <a:solidFill>
              <a:srgbClr val="B67D3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8773667" y="3529584"/>
            <a:ext cx="2231271" cy="0"/>
          </a:xfrm>
          <a:prstGeom prst="line">
            <a:avLst/>
          </a:prstGeom>
          <a:ln w="15875">
            <a:solidFill>
              <a:srgbClr val="B67D3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3667" y="3355848"/>
            <a:ext cx="0" cy="173736"/>
          </a:xfrm>
          <a:prstGeom prst="line">
            <a:avLst/>
          </a:prstGeom>
          <a:ln w="15875">
            <a:solidFill>
              <a:srgbClr val="B67D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826810" y="3593591"/>
            <a:ext cx="4252413" cy="2651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修正图返回 THP，继续验证—修正</a:t>
            </a:r>
            <a:endParaRPr lang="zh-CN" sz="1350" b="0">
              <a:solidFill>
                <a:srgbClr val="B67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513832" y="4288536"/>
            <a:ext cx="6519672" cy="1920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输出：收敛后的因果图与事件对预测（迭代 2–9 轮）</a:t>
            </a:r>
            <a:endParaRPr lang="zh-CN" sz="122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84632" y="5376418"/>
            <a:ext cx="4892040" cy="2468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联合判别目标与交替优化：</a:t>
            </a:r>
            <a:endParaRPr lang="zh-CN" sz="16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8640" y="5669026"/>
            <a:ext cx="4727448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= L</a:t>
            </a:r>
            <a:r>
              <a:rPr lang="zh-CN" sz="1340" b="0" baseline="-24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cls</a:t>
            </a:r>
            <a:r>
              <a:rPr lang="zh-CN" sz="20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λ</a:t>
            </a:r>
            <a:r>
              <a:rPr lang="zh-CN" sz="1340" b="0" baseline="-24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20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sz="1340" b="0" baseline="-24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event</a:t>
            </a:r>
            <a:r>
              <a:rPr lang="zh-CN" sz="20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λ</a:t>
            </a:r>
            <a:r>
              <a:rPr lang="zh-CN" sz="1340" b="0" baseline="-24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sz="20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sz="1340" b="0" baseline="-24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pair</a:t>
            </a:r>
            <a:endParaRPr lang="zh-CN" sz="1340" b="0" baseline="-240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67528" y="4686300"/>
            <a:ext cx="21031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760720" y="4681728"/>
            <a:ext cx="6391656" cy="2705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机制分析：叙事顺序是软先验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，逆序边可逐步减弱，不直接硬删除。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367528" y="5381244"/>
            <a:ext cx="21031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760720" y="5376672"/>
            <a:ext cx="6391656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实验验证：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ESC 总体 / 跨句 F1 为 65.0 / 61.9，CTB 句内为 64.5；去掉迭代修正，ESC 总体从 65.0 降至 60.8。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67528" y="6012180"/>
            <a:ext cx="21031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760720" y="6007608"/>
            <a:ext cx="6391656" cy="4480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</a:t>
            </a: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建议受提示影响；句序代理可能引入时间噪声。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示例同版页眉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  <a:effectLst/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9pPr>
          </a:lstStyle>
          <a:p>
            <a:pPr>
              <a:defRPr/>
            </a:pPr>
            <a:r>
              <a:rPr lang="zh-CN" altLang="en-US" sz="4800" kern="0" dirty="0">
                <a:solidFill>
                  <a:prstClr val="black"/>
                </a:solidFill>
                <a:latin typeface="黑体" panose="02010609060101010101" pitchFamily="34" charset="-122"/>
                <a:ea typeface="黑体" panose="02010609060101010101" pitchFamily="34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黑体" panose="02010609060101010101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872" y="941832"/>
            <a:ext cx="265176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210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344" y="937259"/>
            <a:ext cx="11567160" cy="41338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4472C4"/>
                </a:solidFill>
                <a:cs typeface="黑体" panose="02010609060101010101" pitchFamily="34" charset="-122"/>
              </a:rPr>
              <a:t>Suggest：语义建议与结构建议</a:t>
            </a:r>
            <a:endParaRPr lang="zh-CN" sz="2400" b="1">
              <a:solidFill>
                <a:srgbClr val="4472C4"/>
              </a:solidFill>
              <a:cs typeface="黑体" panose="02010609060101010101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" y="6528816"/>
            <a:ext cx="12097512" cy="3017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Suggest-Verify-Revise: A Three-Stage Document-Level Event Causality Identification with Narrative Consistency (ACL, 2026)</a:t>
            </a:r>
            <a:endParaRPr lang="zh-CN" sz="122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530352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1）LLM 四维启发式</a:t>
            </a:r>
            <a:endParaRPr lang="zh-CN" sz="20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2002536"/>
            <a:ext cx="5394960" cy="4846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输入候选事件对与上下文，由 DeepSeek 生成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多视角依据，并映射为 [0, 1] 的置信分数。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2779776"/>
            <a:ext cx="2505456" cy="722376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852928"/>
            <a:ext cx="2286000" cy="2651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</a:t>
            </a:r>
            <a:endParaRPr lang="zh-CN" sz="17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648" y="3172968"/>
            <a:ext cx="22860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是否存在解释性联系？</a:t>
            </a:r>
            <a:endParaRPr lang="zh-CN" sz="14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10128" y="2779776"/>
            <a:ext cx="2505456" cy="722376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2852928"/>
            <a:ext cx="2286000" cy="2651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因果角色</a:t>
            </a:r>
            <a:endParaRPr lang="zh-CN" sz="17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19856" y="3172968"/>
            <a:ext cx="22860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谁是原因，谁是结果？</a:t>
            </a:r>
            <a:endParaRPr lang="zh-CN" sz="14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3694176"/>
            <a:ext cx="2505456" cy="722376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767328"/>
            <a:ext cx="2286000" cy="2651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依存</a:t>
            </a:r>
            <a:endParaRPr lang="zh-CN" sz="17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648" y="4087368"/>
            <a:ext cx="22860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句法连接是否支持？</a:t>
            </a:r>
            <a:endParaRPr lang="zh-CN" sz="14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310128" y="3694176"/>
            <a:ext cx="2505456" cy="722376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9856" y="3767328"/>
            <a:ext cx="2286000" cy="2651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</a:t>
            </a:r>
            <a:endParaRPr lang="zh-CN" sz="17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19856" y="4087368"/>
            <a:ext cx="22860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相对时间是否合理？</a:t>
            </a:r>
            <a:endParaRPr lang="zh-CN" sz="14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4681728"/>
            <a:ext cx="5394960" cy="4754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r>
              <a:rPr lang="zh-CN" sz="1540" b="0" baseline="-24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ij</a:t>
            </a:r>
            <a:r>
              <a:rPr lang="zh-CN" sz="2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[h</a:t>
            </a:r>
            <a:r>
              <a:rPr lang="zh-CN" sz="1540" b="0" baseline="33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sem</a:t>
            </a:r>
            <a:r>
              <a:rPr lang="zh-CN" sz="2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h</a:t>
            </a:r>
            <a:r>
              <a:rPr lang="zh-CN" sz="1540" b="0" baseline="33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cau</a:t>
            </a:r>
            <a:r>
              <a:rPr lang="zh-CN" sz="2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h</a:t>
            </a:r>
            <a:r>
              <a:rPr lang="zh-CN" sz="1540" b="0" baseline="33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dep</a:t>
            </a:r>
            <a:r>
              <a:rPr lang="zh-CN" sz="2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h</a:t>
            </a:r>
            <a:r>
              <a:rPr lang="zh-CN" sz="1540" b="0" baseline="33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temp</a:t>
            </a:r>
            <a:r>
              <a:rPr lang="zh-CN" sz="2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</a:t>
            </a:r>
            <a:endParaRPr lang="zh-CN" sz="2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5303520"/>
            <a:ext cx="539496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sz="1540" b="0" baseline="330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sz="1540" b="0" baseline="-240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ij</a:t>
            </a:r>
            <a:r>
              <a:rPr lang="zh-CN" sz="23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mean(h</a:t>
            </a:r>
            <a:r>
              <a:rPr lang="zh-CN" sz="1540" b="0" baseline="-240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ij</a:t>
            </a:r>
            <a:r>
              <a:rPr lang="zh-CN" sz="23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sz="230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135624" y="1591056"/>
            <a:ext cx="0" cy="4005072"/>
          </a:xfrm>
          <a:prstGeom prst="line">
            <a:avLst/>
          </a:prstGeom>
          <a:ln w="12700">
            <a:solidFill>
              <a:srgbClr val="D1DC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46520" y="1572768"/>
            <a:ext cx="530352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2）共指超图的结构支撑</a:t>
            </a:r>
            <a:endParaRPr lang="zh-CN" sz="20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46520" y="2002536"/>
            <a:ext cx="5239512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将同一概念的多个提及放入共指超边，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此处只表达共享结构，不预设因果方向。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565392" y="2743200"/>
            <a:ext cx="2331720" cy="777240"/>
          </a:xfrm>
          <a:prstGeom prst="ellipse">
            <a:avLst/>
          </a:prstGeom>
          <a:solidFill>
            <a:srgbClr val="EDF7F6"/>
          </a:solidFill>
          <a:ln>
            <a:solidFill>
              <a:srgbClr val="3C8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1" y="2907792"/>
            <a:ext cx="214884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killed  ·  killing</a:t>
            </a:r>
            <a:endParaRPr lang="zh-CN" sz="1600" b="1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9281160" y="2743200"/>
            <a:ext cx="2331720" cy="777240"/>
          </a:xfrm>
          <a:prstGeom prst="ellipse">
            <a:avLst/>
          </a:prstGeom>
          <a:solidFill>
            <a:srgbClr val="EDF7F6"/>
          </a:solidFill>
          <a:ln>
            <a:solidFill>
              <a:srgbClr val="3C8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2907792"/>
            <a:ext cx="214884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riot  ·  Riot</a:t>
            </a:r>
            <a:endParaRPr lang="zh-CN" sz="1600" b="1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65392" y="3621024"/>
            <a:ext cx="500176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超边示意：聚合到概念事件</a:t>
            </a:r>
            <a:endParaRPr lang="zh-CN" sz="14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73952" y="4096512"/>
            <a:ext cx="128016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共享绑定</a:t>
            </a:r>
            <a:endParaRPr lang="zh-CN" sz="1700" b="1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91272" y="4096512"/>
            <a:ext cx="379476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共同属于超边的强度</a:t>
            </a:r>
            <a:endParaRPr lang="zh-CN" sz="17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73952" y="4599432"/>
            <a:ext cx="128016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位置差异</a:t>
            </a:r>
            <a:endParaRPr lang="zh-CN" sz="1700" b="1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91272" y="4599432"/>
            <a:ext cx="379476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句内位置与段落代理差异</a:t>
            </a:r>
            <a:endParaRPr lang="zh-CN" sz="17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73952" y="5102352"/>
            <a:ext cx="128016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结构中心性</a:t>
            </a:r>
            <a:endParaRPr lang="zh-CN" sz="1700" b="1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91272" y="5102352"/>
            <a:ext cx="379476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事件所属超边数量的均值</a:t>
            </a:r>
            <a:endParaRPr lang="zh-CN" sz="17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11480" y="5879592"/>
            <a:ext cx="11365992" cy="438912"/>
          </a:xfrm>
          <a:prstGeom prst="rect">
            <a:avLst/>
          </a:prstGeom>
          <a:solidFill>
            <a:srgbClr val="ED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948172"/>
            <a:ext cx="1106424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两路输出都作为软因果先验：融合后交给 THP 验证，不直接转成最终因果标签。</a:t>
            </a:r>
            <a:endParaRPr lang="zh-CN" sz="17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示例同版页眉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  <a:effectLst/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9pPr>
          </a:lstStyle>
          <a:p>
            <a:pPr>
              <a:defRPr/>
            </a:pPr>
            <a:r>
              <a:rPr lang="zh-CN" altLang="en-US" sz="4800" kern="0" dirty="0">
                <a:solidFill>
                  <a:prstClr val="black"/>
                </a:solidFill>
                <a:latin typeface="黑体" panose="02010609060101010101" pitchFamily="34" charset="-122"/>
                <a:ea typeface="黑体" panose="02010609060101010101" pitchFamily="34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黑体" panose="02010609060101010101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872" y="941832"/>
            <a:ext cx="265176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210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344" y="937259"/>
            <a:ext cx="11567160" cy="41338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4472C4"/>
                </a:solidFill>
                <a:cs typeface="黑体" panose="02010609060101010101" pitchFamily="34" charset="-122"/>
              </a:rPr>
              <a:t>Verify：用拓扑 Hawkes 过程检验叙事传播</a:t>
            </a:r>
            <a:endParaRPr lang="zh-CN" sz="2400" b="1">
              <a:solidFill>
                <a:srgbClr val="4472C4"/>
              </a:solidFill>
              <a:cs typeface="黑体" panose="02010609060101010101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" y="6528816"/>
            <a:ext cx="12097512" cy="3017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Suggest-Verify-Revise: A Three-Stage Document-Level Event Causality Identification with Narrative Consistency (ACL, 2026)</a:t>
            </a:r>
            <a:endParaRPr lang="zh-CN" sz="122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51663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1）构造离散叙事时间</a:t>
            </a:r>
            <a:endParaRPr lang="zh-CN" sz="20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2121408"/>
            <a:ext cx="1188720" cy="493776"/>
          </a:xfrm>
          <a:prstGeom prst="roundRect">
            <a:avLst>
              <a:gd name="adj" fmla="val 8000"/>
            </a:avLst>
          </a:prstGeom>
          <a:solidFill>
            <a:srgbClr val="EDF7F6"/>
          </a:solidFill>
          <a:ln w="15240">
            <a:solidFill>
              <a:srgbClr val="3C8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135124"/>
            <a:ext cx="1133856" cy="4663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 i</a:t>
            </a:r>
            <a:endParaRPr lang="zh-CN" sz="1700" b="1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688336"/>
            <a:ext cx="118872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tᵢ</a:t>
            </a:r>
            <a:endParaRPr lang="zh-CN" sz="150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331720" y="2121408"/>
            <a:ext cx="1188720" cy="493776"/>
          </a:xfrm>
          <a:prstGeom prst="roundRect">
            <a:avLst>
              <a:gd name="adj" fmla="val 8000"/>
            </a:avLst>
          </a:prstGeom>
          <a:solidFill>
            <a:srgbClr val="EDF7F6"/>
          </a:solidFill>
          <a:ln w="15240">
            <a:solidFill>
              <a:srgbClr val="3C8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151" y="2135124"/>
            <a:ext cx="1133856" cy="4663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 k</a:t>
            </a:r>
            <a:endParaRPr lang="zh-CN" sz="1700" b="1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2688336"/>
            <a:ext cx="118872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tₖ</a:t>
            </a:r>
            <a:endParaRPr lang="zh-CN" sz="150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69080" y="2121408"/>
            <a:ext cx="1188720" cy="493776"/>
          </a:xfrm>
          <a:prstGeom prst="roundRect">
            <a:avLst>
              <a:gd name="adj" fmla="val 8000"/>
            </a:avLst>
          </a:prstGeom>
          <a:solidFill>
            <a:srgbClr val="EDF7F6"/>
          </a:solidFill>
          <a:ln w="15240">
            <a:solidFill>
              <a:srgbClr val="3C8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6512" y="2135124"/>
            <a:ext cx="1133856" cy="4663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 j</a:t>
            </a:r>
            <a:endParaRPr lang="zh-CN" sz="1700" b="1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69080" y="2688336"/>
            <a:ext cx="118872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tⱼ</a:t>
            </a:r>
            <a:endParaRPr lang="zh-CN" sz="150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828800" y="2368296"/>
            <a:ext cx="429768" cy="0"/>
          </a:xfrm>
          <a:prstGeom prst="line">
            <a:avLst/>
          </a:prstGeom>
          <a:ln w="21590">
            <a:solidFill>
              <a:srgbClr val="3C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66160" y="2368296"/>
            <a:ext cx="429768" cy="0"/>
          </a:xfrm>
          <a:prstGeom prst="line">
            <a:avLst/>
          </a:prstGeom>
          <a:ln w="21590">
            <a:solidFill>
              <a:srgbClr val="3C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2971800"/>
            <a:ext cx="5120640" cy="2834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优先使用 TLINK；缺失时以句子顺序代理。</a:t>
            </a:r>
            <a:endParaRPr lang="zh-CN"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35040" y="1572768"/>
            <a:ext cx="557784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2）融合两路软建议</a:t>
            </a:r>
            <a:endParaRPr lang="zh-CN" sz="20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80760" y="2139696"/>
            <a:ext cx="566928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</a:t>
            </a:r>
            <a:r>
              <a:rPr lang="zh-CN" sz="1475" b="0" baseline="-24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i→j</a:t>
            </a:r>
            <a:r>
              <a:rPr lang="zh-CN" sz="2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β</a:t>
            </a:r>
            <a:r>
              <a:rPr lang="zh-CN" sz="1475" b="0" baseline="-24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2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σ(s</a:t>
            </a:r>
            <a:r>
              <a:rPr lang="zh-CN" sz="1475" b="0" baseline="33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sz="1475" b="0" baseline="-24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ij</a:t>
            </a:r>
            <a:r>
              <a:rPr lang="zh-CN" sz="2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+ β</a:t>
            </a:r>
            <a:r>
              <a:rPr lang="zh-CN" sz="1475" b="0" baseline="-24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sz="2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σ(s</a:t>
            </a:r>
            <a:r>
              <a:rPr lang="zh-CN" sz="1475" b="0" baseline="33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struct</a:t>
            </a:r>
            <a:r>
              <a:rPr lang="zh-CN" sz="1475" b="0" baseline="-24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ij</a:t>
            </a:r>
            <a:r>
              <a:rPr lang="zh-CN" sz="2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sz="2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80760" y="2816352"/>
            <a:ext cx="548640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β₁、β₂ 为可学习参数；α 表示解释依赖强度。</a:t>
            </a:r>
            <a:endParaRPr lang="zh-CN"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11480" y="3502152"/>
            <a:ext cx="11365992" cy="822960"/>
          </a:xfrm>
          <a:prstGeom prst="rect">
            <a:avLst/>
          </a:prstGeom>
          <a:solidFill>
            <a:srgbClr val="ED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75887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0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λ</a:t>
            </a:r>
            <a:r>
              <a:rPr lang="zh-CN" sz="1810" b="0" baseline="-24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sz="270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μ</a:t>
            </a:r>
            <a:r>
              <a:rPr lang="zh-CN" sz="1810" b="0" baseline="-24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sz="270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Σ</a:t>
            </a:r>
            <a:r>
              <a:rPr lang="zh-CN" sz="1810" b="0" baseline="-24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i→j</a:t>
            </a:r>
            <a:r>
              <a:rPr lang="zh-CN" sz="270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α</a:t>
            </a:r>
            <a:r>
              <a:rPr lang="zh-CN" sz="1810" b="0" baseline="33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(l)</a:t>
            </a:r>
            <a:r>
              <a:rPr lang="zh-CN" sz="1810" b="0" baseline="-24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i→j</a:t>
            </a:r>
            <a:r>
              <a:rPr lang="zh-CN" sz="270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κ(t</a:t>
            </a:r>
            <a:r>
              <a:rPr lang="zh-CN" sz="1810" b="0" baseline="-24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sz="270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 t</a:t>
            </a:r>
            <a:r>
              <a:rPr lang="zh-CN" sz="1810" b="0" baseline="-24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sz="270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· 𝕀[(i,j) ∈ A]</a:t>
            </a:r>
            <a:endParaRPr lang="zh-CN" sz="2700" b="0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6928" y="4489704"/>
            <a:ext cx="5102352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μ：无父节点时的基础强度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κ：随叙事距离衰减的核；A：当前候选图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928" y="5340096"/>
            <a:ext cx="539496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sz="1305" b="0" baseline="-24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THP</a:t>
            </a:r>
            <a:r>
              <a:rPr lang="zh-CN" sz="19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−Σ log λ</a:t>
            </a:r>
            <a:r>
              <a:rPr lang="zh-CN" sz="1305" b="0" baseline="-24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sz="19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Σ ∫ λ</a:t>
            </a:r>
            <a:r>
              <a:rPr lang="zh-CN" sz="1305" b="0" baseline="-24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sz="19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(t)dt</a:t>
            </a:r>
            <a:endParaRPr lang="zh-CN" sz="19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6928" y="5742432"/>
            <a:ext cx="5212080" cy="3017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联合优化候选边，平衡解释强度与结构复杂度。</a:t>
            </a:r>
            <a:endParaRPr lang="zh-CN" sz="15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35040" y="4489704"/>
            <a:ext cx="557784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3）输出一致性校准后的边权</a:t>
            </a:r>
            <a:endParaRPr lang="zh-CN" sz="2000" b="1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80760" y="5010912"/>
            <a:ext cx="5486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</a:t>
            </a:r>
            <a:r>
              <a:rPr lang="zh-CN" sz="1475" b="0" baseline="33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(l)</a:t>
            </a:r>
            <a:r>
              <a:rPr lang="zh-CN" sz="1475" b="0" baseline="-24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i→j</a:t>
            </a:r>
            <a:r>
              <a:rPr lang="zh-CN" sz="220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E</a:t>
            </a:r>
            <a:r>
              <a:rPr lang="zh-CN" sz="1475" b="0" baseline="-24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THP</a:t>
            </a:r>
            <a:r>
              <a:rPr lang="zh-CN" sz="220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α</a:t>
            </a:r>
            <a:r>
              <a:rPr lang="zh-CN" sz="1475" b="0" baseline="33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(l)</a:t>
            </a:r>
            <a:r>
              <a:rPr lang="zh-CN" sz="1475" b="0" baseline="-24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i→j</a:t>
            </a:r>
            <a:r>
              <a:rPr lang="zh-CN" sz="220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κ(t</a:t>
            </a:r>
            <a:r>
              <a:rPr lang="zh-CN" sz="1475" b="0" baseline="-24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sz="220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 t</a:t>
            </a:r>
            <a:r>
              <a:rPr lang="zh-CN" sz="1475" b="0" baseline="-24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sz="220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]</a:t>
            </a:r>
            <a:endParaRPr lang="zh-CN" sz="2200" b="0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80760" y="5596128"/>
            <a:ext cx="5486400" cy="5943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叙事顺序是软先验：逆序候选可被逐步削弱；</a:t>
            </a:r>
            <a:endParaRPr lang="zh-CN" sz="17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THP 用于一致性建模，不拟合真实发生时间。</a:t>
            </a:r>
            <a:endParaRPr lang="zh-CN" sz="17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示例同版页眉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  <a:effectLst/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9pPr>
          </a:lstStyle>
          <a:p>
            <a:pPr>
              <a:defRPr/>
            </a:pPr>
            <a:r>
              <a:rPr lang="zh-CN" altLang="en-US" sz="4800" kern="0" dirty="0">
                <a:solidFill>
                  <a:prstClr val="black"/>
                </a:solidFill>
                <a:latin typeface="黑体" panose="02010609060101010101" pitchFamily="34" charset="-122"/>
                <a:ea typeface="黑体" panose="02010609060101010101" pitchFamily="34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黑体" panose="02010609060101010101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872" y="941832"/>
            <a:ext cx="265176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210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344" y="937259"/>
            <a:ext cx="11567160" cy="41338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4472C4"/>
                </a:solidFill>
                <a:cs typeface="黑体" panose="02010609060101010101" pitchFamily="34" charset="-122"/>
              </a:rPr>
              <a:t>Revise：传播表示、重评边，再更新候选图</a:t>
            </a:r>
            <a:endParaRPr lang="zh-CN" sz="2400" b="1">
              <a:solidFill>
                <a:srgbClr val="4472C4"/>
              </a:solidFill>
              <a:cs typeface="黑体" panose="02010609060101010101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" y="6528816"/>
            <a:ext cx="12097512" cy="3017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Suggest-Verify-Revise: A Three-Stage Document-Level Event Causality Identification with Narrative Consistency (ACL, 2026)</a:t>
            </a:r>
            <a:endParaRPr lang="zh-CN" sz="122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530352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结构如何在多轮中变化？</a:t>
            </a:r>
            <a:endParaRPr lang="zh-CN" sz="20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1984248"/>
            <a:ext cx="530352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机制示意：实线为主干，虚线为低一致性候选。</a:t>
            </a:r>
            <a:endParaRPr lang="zh-CN" sz="160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2715768"/>
            <a:ext cx="1170432" cy="3383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l 轮</a:t>
            </a:r>
            <a:endParaRPr lang="zh-CN" sz="16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874519" y="2633472"/>
            <a:ext cx="804672" cy="475488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524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1951" y="2647188"/>
            <a:ext cx="749808" cy="4480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e₁</a:t>
            </a:r>
            <a:endParaRPr lang="zh-CN" sz="18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19272" y="2633472"/>
            <a:ext cx="804672" cy="475488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524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3" y="2647188"/>
            <a:ext cx="749808" cy="4480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e₂</a:t>
            </a:r>
            <a:endParaRPr lang="zh-CN" sz="18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764024" y="2633472"/>
            <a:ext cx="804672" cy="475488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524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1456" y="2647188"/>
            <a:ext cx="749808" cy="4480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e₃</a:t>
            </a:r>
            <a:endParaRPr lang="zh-CN" sz="18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724912" y="2871215"/>
            <a:ext cx="521208" cy="0"/>
          </a:xfrm>
          <a:prstGeom prst="line">
            <a:avLst/>
          </a:prstGeom>
          <a:ln w="2159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169663" y="2871215"/>
            <a:ext cx="521209" cy="0"/>
          </a:xfrm>
          <a:prstGeom prst="line">
            <a:avLst/>
          </a:prstGeom>
          <a:ln w="2159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4133087"/>
            <a:ext cx="1170432" cy="3383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l+1 轮</a:t>
            </a:r>
            <a:endParaRPr lang="zh-CN" sz="16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874519" y="4050791"/>
            <a:ext cx="804672" cy="475488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524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01951" y="4064507"/>
            <a:ext cx="749808" cy="4480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e₁</a:t>
            </a:r>
            <a:endParaRPr lang="zh-CN" sz="18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319272" y="4050791"/>
            <a:ext cx="804672" cy="475488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524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46703" y="4064507"/>
            <a:ext cx="749808" cy="4480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e₂</a:t>
            </a:r>
            <a:endParaRPr lang="zh-CN" sz="18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764024" y="4050791"/>
            <a:ext cx="804672" cy="475488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524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91456" y="4064507"/>
            <a:ext cx="749808" cy="4480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e₃</a:t>
            </a:r>
            <a:endParaRPr lang="zh-CN" sz="18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2724912" y="4288536"/>
            <a:ext cx="521208" cy="0"/>
          </a:xfrm>
          <a:prstGeom prst="line">
            <a:avLst/>
          </a:prstGeom>
          <a:ln w="2159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69663" y="4288536"/>
            <a:ext cx="521209" cy="0"/>
          </a:xfrm>
          <a:prstGeom prst="line">
            <a:avLst/>
          </a:prstGeom>
          <a:ln w="2159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66360" y="3127248"/>
            <a:ext cx="0" cy="338328"/>
          </a:xfrm>
          <a:prstGeom prst="line">
            <a:avLst/>
          </a:prstGeom>
          <a:ln w="16510">
            <a:solidFill>
              <a:srgbClr val="B855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276856" y="3465576"/>
            <a:ext cx="2889504" cy="0"/>
          </a:xfrm>
          <a:prstGeom prst="line">
            <a:avLst/>
          </a:prstGeom>
          <a:ln w="16510">
            <a:solidFill>
              <a:srgbClr val="B855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276856" y="3127248"/>
            <a:ext cx="0" cy="338328"/>
          </a:xfrm>
          <a:prstGeom prst="line">
            <a:avLst/>
          </a:prstGeom>
          <a:ln w="16510">
            <a:solidFill>
              <a:srgbClr val="B8555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12463" y="3639312"/>
            <a:ext cx="0" cy="329184"/>
          </a:xfrm>
          <a:prstGeom prst="line">
            <a:avLst/>
          </a:prstGeom>
          <a:ln w="25400">
            <a:solidFill>
              <a:srgbClr val="B67D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9496" y="4873752"/>
            <a:ext cx="5166360" cy="6309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THP 边权影响消息传递，更新后的表示</a:t>
            </a:r>
            <a:endParaRPr lang="zh-CN" sz="18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再用于判断候选边是否仍然可靠。</a:t>
            </a:r>
            <a:endParaRPr lang="zh-CN" sz="18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016752" y="1572768"/>
            <a:ext cx="0" cy="4023360"/>
          </a:xfrm>
          <a:prstGeom prst="line">
            <a:avLst/>
          </a:prstGeom>
          <a:ln w="12700">
            <a:solidFill>
              <a:srgbClr val="D1DC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27648" y="1600200"/>
            <a:ext cx="20116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175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20256" y="1600200"/>
            <a:ext cx="5157216" cy="9601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表示传播：</a:t>
            </a: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区分句内边与跨句边，用异构图注意力聚合邻居信息，并融合节点自身语义。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27648" y="2743200"/>
            <a:ext cx="20116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175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20256" y="2743200"/>
            <a:ext cx="5157216" cy="7498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有向重评分：</a:t>
            </a: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拼接源事件、目标事件及其表示差，重新评估方向相关的边一致性。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92824" y="3602736"/>
            <a:ext cx="5184648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sz="1305" b="0" baseline="-2400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i→j</a:t>
            </a:r>
            <a:r>
              <a:rPr lang="zh-CN" sz="1950" b="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σ(u</a:t>
            </a:r>
            <a:r>
              <a:rPr lang="zh-CN" sz="1305" b="0" baseline="3300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zh-CN" sz="1950" b="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[h</a:t>
            </a:r>
            <a:r>
              <a:rPr lang="zh-CN" sz="1305" b="0" baseline="-2400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sz="1950" b="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‖ h</a:t>
            </a:r>
            <a:r>
              <a:rPr lang="zh-CN" sz="1305" b="0" baseline="-2400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sz="1950" b="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‖ (h</a:t>
            </a:r>
            <a:r>
              <a:rPr lang="zh-CN" sz="1305" b="0" baseline="-2400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sz="1950" b="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−h</a:t>
            </a:r>
            <a:r>
              <a:rPr lang="zh-CN" sz="1305" b="0" baseline="-2400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sz="1950" b="0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)])</a:t>
            </a:r>
            <a:endParaRPr lang="zh-CN" sz="1950" b="0">
              <a:solidFill>
                <a:srgbClr val="B67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27648" y="4425696"/>
            <a:ext cx="20116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175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20256" y="4425696"/>
            <a:ext cx="5157216" cy="9601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图结构修正：</a:t>
            </a: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依据新分数重估或抑制低一致性边，再将更新图送入下一轮 THP 验证。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11480" y="5879592"/>
            <a:ext cx="11365992" cy="438912"/>
          </a:xfrm>
          <a:prstGeom prst="rect">
            <a:avLst/>
          </a:prstGeom>
          <a:solidFill>
            <a:srgbClr val="ED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948172"/>
            <a:ext cx="1106424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训练稳定性：先验权重逐步注入；采用门控残差融合，弱图或空图时保留节点语义。</a:t>
            </a:r>
            <a:endParaRPr lang="zh-CN" sz="17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示例同版页眉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  <a:effectLst/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9pPr>
          </a:lstStyle>
          <a:p>
            <a:pPr>
              <a:defRPr/>
            </a:pPr>
            <a:r>
              <a:rPr lang="zh-CN" altLang="en-US" sz="4800" kern="0" dirty="0">
                <a:solidFill>
                  <a:prstClr val="black"/>
                </a:solidFill>
                <a:latin typeface="黑体" panose="02010609060101010101" pitchFamily="34" charset="-122"/>
                <a:ea typeface="黑体" panose="02010609060101010101" pitchFamily="34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黑体" panose="02010609060101010101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872" y="941832"/>
            <a:ext cx="265176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210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344" y="937259"/>
            <a:ext cx="11567160" cy="41338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4472C4"/>
                </a:solidFill>
                <a:cs typeface="黑体" panose="02010609060101010101" pitchFamily="34" charset="-122"/>
              </a:rPr>
              <a:t>双层结构对比学习：同时学习“角色”和“关系边界”</a:t>
            </a:r>
            <a:endParaRPr lang="zh-CN" sz="2400" b="1">
              <a:solidFill>
                <a:srgbClr val="4472C4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" y="6528816"/>
            <a:ext cx="12097512" cy="3017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Suggest-Verify-Revise: A Three-Stage Document-Level Event Causality Identification with Narrative Consistency (ACL, 2026)</a:t>
            </a:r>
            <a:endParaRPr lang="zh-CN" sz="122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事件级：让相同因果角色更接近</a:t>
            </a:r>
            <a:endParaRPr lang="zh-CN" sz="20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1572768"/>
            <a:ext cx="5376672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事件对级：拉开因果与非因果</a:t>
            </a:r>
            <a:endParaRPr lang="zh-CN" sz="2000" b="1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2002536"/>
            <a:ext cx="5468112" cy="6309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依据当前图的 1 跳子结构编码事件；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同角色为正例，异角色中选困难负例。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2002536"/>
            <a:ext cx="5349240" cy="6309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将事件对作为关系单元；因果对为正例，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结构上最相似的非因果对作为困难负例。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2862072"/>
            <a:ext cx="1636776" cy="123444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2971800"/>
            <a:ext cx="152704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锚点：类因</a:t>
            </a:r>
            <a:endParaRPr lang="zh-CN" sz="14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 flipV="1">
            <a:off x="1111501" y="3517323"/>
            <a:ext cx="475217" cy="139397"/>
          </a:xfrm>
          <a:prstGeom prst="line">
            <a:avLst/>
          </a:prstGeom>
          <a:ln w="2032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1501" y="3713343"/>
            <a:ext cx="475217" cy="139397"/>
          </a:xfrm>
          <a:prstGeom prst="line">
            <a:avLst/>
          </a:prstGeom>
          <a:ln w="2032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32688" y="3602736"/>
            <a:ext cx="164592" cy="164592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18488" y="3401568"/>
            <a:ext cx="164592" cy="164592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18488" y="3803904"/>
            <a:ext cx="164592" cy="164592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59152" y="2862072"/>
            <a:ext cx="1636776" cy="123444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14016" y="2971800"/>
            <a:ext cx="152704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正例：同角色</a:t>
            </a:r>
            <a:endParaRPr lang="zh-CN" sz="14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 flipV="1">
            <a:off x="2967733" y="3517323"/>
            <a:ext cx="475217" cy="139397"/>
          </a:xfrm>
          <a:prstGeom prst="line">
            <a:avLst/>
          </a:prstGeom>
          <a:ln w="2032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67733" y="3713343"/>
            <a:ext cx="475217" cy="139397"/>
          </a:xfrm>
          <a:prstGeom prst="line">
            <a:avLst/>
          </a:prstGeom>
          <a:ln w="20320">
            <a:solidFill>
              <a:srgbClr val="4472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788920" y="3602736"/>
            <a:ext cx="164592" cy="164592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74720" y="3401568"/>
            <a:ext cx="164592" cy="164592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74720" y="3803904"/>
            <a:ext cx="164592" cy="164592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15384" y="2862072"/>
            <a:ext cx="1636776" cy="1234440"/>
          </a:xfrm>
          <a:prstGeom prst="roundRect">
            <a:avLst>
              <a:gd name="adj" fmla="val 8000"/>
            </a:avLst>
          </a:prstGeom>
          <a:solidFill>
            <a:srgbClr val="FA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2971800"/>
            <a:ext cx="152704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B8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困难负例</a:t>
            </a:r>
            <a:endParaRPr lang="zh-CN" sz="1450" b="1">
              <a:solidFill>
                <a:srgbClr val="B8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 flipH="1">
            <a:off x="4841513" y="3512175"/>
            <a:ext cx="475217" cy="139397"/>
          </a:xfrm>
          <a:prstGeom prst="line">
            <a:avLst/>
          </a:prstGeom>
          <a:ln w="20320">
            <a:solidFill>
              <a:srgbClr val="B8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4841513" y="3718491"/>
            <a:ext cx="475217" cy="139397"/>
          </a:xfrm>
          <a:prstGeom prst="line">
            <a:avLst/>
          </a:prstGeom>
          <a:ln w="20320">
            <a:solidFill>
              <a:srgbClr val="B8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645152" y="3602736"/>
            <a:ext cx="164592" cy="164592"/>
          </a:xfrm>
          <a:prstGeom prst="ellipse">
            <a:avLst/>
          </a:prstGeom>
          <a:solidFill>
            <a:srgbClr val="B8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30952" y="3401568"/>
            <a:ext cx="164592" cy="164592"/>
          </a:xfrm>
          <a:prstGeom prst="ellipse">
            <a:avLst/>
          </a:prstGeom>
          <a:solidFill>
            <a:srgbClr val="B8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330952" y="3803904"/>
            <a:ext cx="164592" cy="164592"/>
          </a:xfrm>
          <a:prstGeom prst="ellipse">
            <a:avLst/>
          </a:prstGeom>
          <a:solidFill>
            <a:srgbClr val="B8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242816"/>
            <a:ext cx="5349240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另采样随机简单负例；困难负例权重为 2。</a:t>
            </a:r>
            <a:endParaRPr lang="zh-CN" sz="16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02920" y="4828032"/>
            <a:ext cx="5349240" cy="832104"/>
          </a:xfrm>
          <a:prstGeom prst="rect">
            <a:avLst/>
          </a:prstGeom>
          <a:solidFill>
            <a:srgbClr val="ED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01768"/>
            <a:ext cx="507492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sz="1275" b="0" baseline="-240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event</a:t>
            </a:r>
            <a:r>
              <a:rPr lang="zh-CN" sz="19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−log [ E</a:t>
            </a:r>
            <a:r>
              <a:rPr lang="zh-CN" sz="1275" b="0" baseline="330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sz="19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(E</a:t>
            </a:r>
            <a:r>
              <a:rPr lang="zh-CN" sz="1275" b="0" baseline="330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sz="19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+ 2E</a:t>
            </a:r>
            <a:r>
              <a:rPr lang="zh-CN" sz="1275" b="0" baseline="330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r>
              <a:rPr lang="zh-CN" sz="19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E</a:t>
            </a:r>
            <a:r>
              <a:rPr lang="zh-CN" sz="1275" b="0" baseline="330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zh-CN" sz="19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]</a:t>
            </a:r>
            <a:endParaRPr lang="zh-CN" sz="190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4360" y="5715000"/>
            <a:ext cx="525780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E(x) = exp(cos(zᵢ, x) / τ)；按角色约束表示。</a:t>
            </a:r>
            <a:endParaRPr lang="zh-CN" sz="15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6126480" y="1572768"/>
            <a:ext cx="0" cy="4535424"/>
          </a:xfrm>
          <a:prstGeom prst="line">
            <a:avLst/>
          </a:prstGeom>
          <a:ln w="12700">
            <a:solidFill>
              <a:srgbClr val="D1DC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492240" y="2862072"/>
            <a:ext cx="5166360" cy="530352"/>
          </a:xfrm>
          <a:prstGeom prst="roundRect">
            <a:avLst>
              <a:gd name="adj" fmla="val 8000"/>
            </a:avLst>
          </a:prstGeom>
          <a:solidFill>
            <a:srgbClr val="ED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0256" y="2980944"/>
            <a:ext cx="1005840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正例</a:t>
            </a:r>
            <a:endParaRPr lang="zh-CN" sz="1600" b="1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26679" y="2980944"/>
            <a:ext cx="3749039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存在因果关系的事件对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492240" y="3584448"/>
            <a:ext cx="5166360" cy="530352"/>
          </a:xfrm>
          <a:prstGeom prst="roundRect">
            <a:avLst>
              <a:gd name="adj" fmla="val 8000"/>
            </a:avLst>
          </a:prstGeom>
          <a:solidFill>
            <a:srgbClr val="FA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0256" y="3703320"/>
            <a:ext cx="1005840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B8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困难负例</a:t>
            </a:r>
            <a:endParaRPr lang="zh-CN" sz="1600" b="1">
              <a:solidFill>
                <a:srgbClr val="B8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726679" y="3703320"/>
            <a:ext cx="3749039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形似因果、实为非因果的事件对</a:t>
            </a:r>
            <a:endParaRPr lang="zh-CN" sz="16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92240" y="4352544"/>
            <a:ext cx="5166360" cy="2834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困难度随当前边权及结构相似度动态更新。</a:t>
            </a:r>
            <a:endParaRPr lang="zh-CN" sz="16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492240" y="4828032"/>
            <a:ext cx="5166360" cy="832104"/>
          </a:xfrm>
          <a:prstGeom prst="rect">
            <a:avLst/>
          </a:prstGeom>
          <a:solidFill>
            <a:srgbClr val="ED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5001768"/>
            <a:ext cx="489204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sz="1305" b="0" baseline="-24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pair</a:t>
            </a:r>
            <a:r>
              <a:rPr lang="zh-CN" sz="195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Σ max(0, γ + sim</a:t>
            </a:r>
            <a:r>
              <a:rPr lang="zh-CN" sz="1305" b="0" baseline="33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</a:t>
            </a:r>
            <a:r>
              <a:rPr lang="zh-CN" sz="195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 sim</a:t>
            </a:r>
            <a:r>
              <a:rPr lang="zh-CN" sz="1305" b="0" baseline="3300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sz="1950" b="0">
                <a:solidFill>
                  <a:srgbClr val="3C8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sz="1950" b="0">
              <a:solidFill>
                <a:srgbClr val="3C8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83680" y="5715000"/>
            <a:ext cx="507492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sim⁺ / sim⁻ 为与正例 / 负例的余弦相似度。</a:t>
            </a:r>
            <a:endParaRPr lang="zh-CN" sz="15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示例同版页眉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  <a:effectLst/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9pPr>
          </a:lstStyle>
          <a:p>
            <a:pPr>
              <a:defRPr/>
            </a:pPr>
            <a:r>
              <a:rPr lang="zh-CN" altLang="en-US" sz="4800" kern="0" dirty="0">
                <a:solidFill>
                  <a:prstClr val="black"/>
                </a:solidFill>
                <a:latin typeface="黑体" panose="02010609060101010101" pitchFamily="34" charset="-122"/>
                <a:ea typeface="黑体" panose="02010609060101010101" pitchFamily="34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黑体" panose="02010609060101010101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872" y="941832"/>
            <a:ext cx="265176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210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344" y="937259"/>
            <a:ext cx="11567160" cy="41338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4472C4"/>
                </a:solidFill>
                <a:cs typeface="黑体" panose="02010609060101010101" pitchFamily="34" charset="-122"/>
              </a:rPr>
              <a:t>主要结果：跨句与总体识别均获提升</a:t>
            </a:r>
            <a:endParaRPr lang="zh-CN" sz="2400" b="1">
              <a:solidFill>
                <a:srgbClr val="4472C4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" y="6528816"/>
            <a:ext cx="12097512" cy="3017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Suggest-Verify-Revise: A Three-Stage Document-Level Event Causality Identification with Narrative Consistency (ACL, 2026)</a:t>
            </a:r>
            <a:endParaRPr lang="zh-CN" sz="122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1106424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ESC：258 篇文档，评估句内 / 跨句 / 总体；CTB：183 篇文档，仅评估句内。</a:t>
            </a:r>
            <a:endParaRPr lang="zh-CN" sz="17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2121408"/>
            <a:ext cx="740664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F1（%）：从原表选取代表性方法</a:t>
            </a:r>
            <a:endParaRPr lang="zh-CN" sz="20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697480"/>
          <a:ext cx="7909560" cy="260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389888"/>
                <a:gridCol w="1389888"/>
                <a:gridCol w="1399032"/>
                <a:gridCol w="1399032"/>
              </a:tblGrid>
              <a:tr h="3721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lang="zh-CN" sz="15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ESC 句内</a:t>
                      </a:r>
                      <a:endParaRPr lang="zh-CN" sz="15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ESC 跨句</a:t>
                      </a:r>
                      <a:endParaRPr lang="zh-CN" sz="15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ESC 总体</a:t>
                      </a:r>
                      <a:endParaRPr lang="zh-CN" sz="15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CTB 句内</a:t>
                      </a:r>
                      <a:endParaRPr lang="zh-CN" sz="15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</a:tr>
              <a:tr h="3721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RichGCN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55.2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42.2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46.6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46.7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1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PPAT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65.3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52.0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56.4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62.4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21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iLIF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71.2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59.1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62.5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1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EHNEM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66.6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61.0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62.8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21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DeepSeek-v3.2¹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44.4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28.8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32.3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11.4</a:t>
                      </a:r>
                      <a:endParaRPr lang="zh-CN" sz="15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1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1">
                          <a:solidFill>
                            <a:srgbClr val="4472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SVRECI</a:t>
                      </a:r>
                      <a:endParaRPr lang="zh-CN" sz="1550" b="1">
                        <a:solidFill>
                          <a:srgbClr val="4472C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1">
                          <a:solidFill>
                            <a:srgbClr val="4472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71.9</a:t>
                      </a:r>
                      <a:endParaRPr lang="zh-CN" sz="1550" b="1">
                        <a:solidFill>
                          <a:srgbClr val="4472C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1">
                          <a:solidFill>
                            <a:srgbClr val="4472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61.9</a:t>
                      </a:r>
                      <a:endParaRPr lang="zh-CN" sz="1550" b="1">
                        <a:solidFill>
                          <a:srgbClr val="4472C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1">
                          <a:solidFill>
                            <a:srgbClr val="4472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65.0</a:t>
                      </a:r>
                      <a:endParaRPr lang="zh-CN" sz="1550" b="1">
                        <a:solidFill>
                          <a:srgbClr val="4472C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550" b="1">
                          <a:solidFill>
                            <a:srgbClr val="4472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64.5</a:t>
                      </a:r>
                      <a:endParaRPr lang="zh-CN" sz="1550" b="1">
                        <a:solidFill>
                          <a:srgbClr val="4472C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DF3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440680"/>
            <a:ext cx="786384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¹ DeepSeek 为零样本基线；“—”表示原文未报告。总体 = 句内与跨句合并。</a:t>
            </a:r>
            <a:endParaRPr lang="zh-CN" sz="13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577072" y="2148840"/>
            <a:ext cx="0" cy="3429000"/>
          </a:xfrm>
          <a:prstGeom prst="line">
            <a:avLst/>
          </a:prstGeom>
          <a:ln w="12700">
            <a:solidFill>
              <a:srgbClr val="D1DC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15400" y="2322576"/>
            <a:ext cx="2194560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+2.2</a:t>
            </a:r>
            <a:endParaRPr lang="zh-CN" sz="34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27080" y="2523744"/>
            <a:ext cx="795528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百分点</a:t>
            </a:r>
            <a:endParaRPr lang="zh-CN" sz="12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15400" y="2916936"/>
            <a:ext cx="283464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ESC 总体：65.0 vs. 62.8</a:t>
            </a:r>
            <a:endParaRPr lang="zh-CN" sz="15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15400" y="3419856"/>
            <a:ext cx="2194560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+0.9</a:t>
            </a:r>
            <a:endParaRPr lang="zh-CN" sz="34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27080" y="3621024"/>
            <a:ext cx="795528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百分点</a:t>
            </a:r>
            <a:endParaRPr lang="zh-CN" sz="12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15400" y="4014216"/>
            <a:ext cx="283464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ESC 跨句：61.9 vs. 61.0</a:t>
            </a:r>
            <a:endParaRPr lang="zh-CN" sz="15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15400" y="4517136"/>
            <a:ext cx="2194560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+2.1</a:t>
            </a:r>
            <a:endParaRPr lang="zh-CN" sz="34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27080" y="4718304"/>
            <a:ext cx="795528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百分点</a:t>
            </a:r>
            <a:endParaRPr lang="zh-CN" sz="12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15400" y="5111496"/>
            <a:ext cx="283464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CTB 句内：64.5 vs. 62.4</a:t>
            </a:r>
            <a:endParaRPr lang="zh-CN" sz="15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1480" y="5879592"/>
            <a:ext cx="11365992" cy="438912"/>
          </a:xfrm>
          <a:prstGeom prst="rect">
            <a:avLst/>
          </a:prstGeom>
          <a:solidFill>
            <a:srgbClr val="ED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948172"/>
            <a:ext cx="1106424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结果解读：ESC 总体 P / R = 65.5 / 64.5；结构验证提高可靠性，漏检仍是改进空间。</a:t>
            </a:r>
            <a:endParaRPr lang="zh-CN" sz="17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示例同版页眉"/>
          <p:cNvSpPr txBox="1"/>
          <p:nvPr/>
        </p:nvSpPr>
        <p:spPr bwMode="auto">
          <a:xfrm>
            <a:off x="0" y="-25400"/>
            <a:ext cx="12192000" cy="711200"/>
          </a:xfrm>
          <a:prstGeom prst="rect">
            <a:avLst/>
          </a:prstGeom>
          <a:gradFill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w="9525">
            <a:noFill/>
            <a:miter lim="800000"/>
          </a:ln>
          <a:effectLst/>
        </p:spPr>
        <p:txBody>
          <a:bodyPr vert="horz" wrap="square" lIns="91439" tIns="45719" rIns="91439" bIns="45719" numCol="1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黑体" panose="02010609060101010101" pitchFamily="34" charset="-122"/>
              </a:defRPr>
            </a:lvl9pPr>
          </a:lstStyle>
          <a:p>
            <a:pPr>
              <a:defRPr/>
            </a:pPr>
            <a:r>
              <a:rPr lang="zh-CN" altLang="en-US" sz="4800" kern="0" dirty="0">
                <a:solidFill>
                  <a:prstClr val="black"/>
                </a:solidFill>
                <a:latin typeface="黑体" panose="02010609060101010101" pitchFamily="34" charset="-122"/>
                <a:ea typeface="黑体" panose="02010609060101010101" pitchFamily="34" charset="-122"/>
              </a:rPr>
              <a:t>论文阅读</a:t>
            </a:r>
            <a:endParaRPr lang="en-US" altLang="zh-CN" sz="4800" kern="0" dirty="0">
              <a:solidFill>
                <a:prstClr val="black"/>
              </a:solidFill>
              <a:ea typeface="黑体" panose="02010609060101010101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872" y="941832"/>
            <a:ext cx="265176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210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344" y="937259"/>
            <a:ext cx="11567160" cy="41338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4472C4"/>
                </a:solidFill>
                <a:cs typeface="黑体" panose="02010609060101010101" pitchFamily="34" charset="-122"/>
              </a:rPr>
              <a:t>消融与思考：迭代修正是关键收益来源</a:t>
            </a:r>
            <a:endParaRPr lang="zh-CN" sz="2400" b="1">
              <a:solidFill>
                <a:srgbClr val="4472C4"/>
              </a:solidFill>
              <a:cs typeface="黑体" panose="02010609060101010101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" y="6528816"/>
            <a:ext cx="12097512" cy="3017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Suggest-Verify-Revise: A Three-Stage Document-Level Event Causality Identification with Narrative Consistency (ACL, 2026)</a:t>
            </a:r>
            <a:endParaRPr lang="zh-CN" sz="122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566928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ESC 总体 F1：移除模块后的变化</a:t>
            </a:r>
            <a:endParaRPr lang="zh-CN" sz="20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5349240" cy="466344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2075688"/>
            <a:ext cx="5239512" cy="4297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 SVRECI：65.0</a:t>
            </a:r>
            <a:endParaRPr lang="zh-CN" sz="18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29718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去掉多源建议（−SG）</a:t>
            </a:r>
            <a:endParaRPr lang="zh-CN"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65576" y="2743200"/>
            <a:ext cx="64008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61.6</a:t>
            </a:r>
            <a:endParaRPr lang="zh-CN" sz="17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52544" y="2807208"/>
            <a:ext cx="963777" cy="146304"/>
          </a:xfrm>
          <a:prstGeom prst="rect">
            <a:avLst/>
          </a:prstGeom>
          <a:solidFill>
            <a:srgbClr val="90A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2743200"/>
            <a:ext cx="49377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−3.4</a:t>
            </a:r>
            <a:endParaRPr lang="zh-CN" sz="150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3282696"/>
            <a:ext cx="29718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 THP 验证（−TV）</a:t>
            </a:r>
            <a:endParaRPr lang="zh-CN"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65576" y="3282696"/>
            <a:ext cx="64008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62.2</a:t>
            </a:r>
            <a:endParaRPr lang="zh-CN" sz="17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52544" y="3346703"/>
            <a:ext cx="793699" cy="146304"/>
          </a:xfrm>
          <a:prstGeom prst="rect">
            <a:avLst/>
          </a:prstGeom>
          <a:solidFill>
            <a:srgbClr val="90A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3282696"/>
            <a:ext cx="49377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−2.8</a:t>
            </a:r>
            <a:endParaRPr lang="zh-CN" sz="150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3822191"/>
            <a:ext cx="29718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去掉迭代修正（−IR）</a:t>
            </a:r>
            <a:endParaRPr lang="zh-CN" sz="16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65576" y="3822191"/>
            <a:ext cx="64008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60.8</a:t>
            </a:r>
            <a:endParaRPr lang="zh-CN" sz="17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52544" y="3886200"/>
            <a:ext cx="1190548" cy="146304"/>
          </a:xfrm>
          <a:prstGeom prst="rect">
            <a:avLst/>
          </a:prstGeom>
          <a:solidFill>
            <a:srgbClr val="B67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3822191"/>
            <a:ext cx="49377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B67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−4.2</a:t>
            </a:r>
            <a:endParaRPr lang="zh-CN" sz="1500" b="1">
              <a:solidFill>
                <a:srgbClr val="B67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4361688"/>
            <a:ext cx="29718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去掉双层对比（−CL）</a:t>
            </a:r>
            <a:endParaRPr lang="zh-CN"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65576" y="4361688"/>
            <a:ext cx="64008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62.1</a:t>
            </a:r>
            <a:endParaRPr lang="zh-CN" sz="17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52544" y="4425696"/>
            <a:ext cx="822045" cy="146304"/>
          </a:xfrm>
          <a:prstGeom prst="rect">
            <a:avLst/>
          </a:prstGeom>
          <a:solidFill>
            <a:srgbClr val="90A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4361688"/>
            <a:ext cx="49377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−2.9</a:t>
            </a:r>
            <a:endParaRPr lang="zh-CN" sz="150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4901183"/>
            <a:ext cx="29718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改为单步更新（−iter.）</a:t>
            </a:r>
            <a:endParaRPr lang="zh-CN" sz="16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65576" y="4901183"/>
            <a:ext cx="64008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61.5</a:t>
            </a:r>
            <a:endParaRPr lang="zh-CN" sz="17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52544" y="4965192"/>
            <a:ext cx="992124" cy="146304"/>
          </a:xfrm>
          <a:prstGeom prst="rect">
            <a:avLst/>
          </a:prstGeom>
          <a:solidFill>
            <a:srgbClr val="90A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4901183"/>
            <a:ext cx="49377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−3.5</a:t>
            </a:r>
            <a:endParaRPr lang="zh-CN" sz="150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5559552"/>
            <a:ext cx="5577840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62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数字为 F1；右侧条形与标签表示相对完整模型下降的百分点。</a:t>
            </a:r>
            <a:endParaRPr lang="zh-CN" sz="1350" b="0">
              <a:solidFill>
                <a:srgbClr val="62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382512" y="1572768"/>
            <a:ext cx="0" cy="4215384"/>
          </a:xfrm>
          <a:prstGeom prst="line">
            <a:avLst/>
          </a:prstGeom>
          <a:ln w="12700">
            <a:solidFill>
              <a:srgbClr val="D1DC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56832" y="1609344"/>
            <a:ext cx="20116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175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949440" y="1609344"/>
            <a:ext cx="4828031" cy="9509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实验启示：</a:t>
            </a: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 IR 下降 4.2 点；单步更新也下降 3.5 点，说明多轮结构反馈具有价值。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56832" y="2898648"/>
            <a:ext cx="20116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175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49440" y="2898648"/>
            <a:ext cx="4828031" cy="9326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作者局限：</a:t>
            </a: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建议质量受提示设计影响；缺少时间标注时，句序代理会引入时间噪声。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56832" y="4224528"/>
            <a:ext cx="20116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➢</a:t>
            </a:r>
            <a:endParaRPr lang="zh-CN" sz="1750" b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49440" y="4224528"/>
            <a:ext cx="4828031" cy="9601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阅读思考：</a:t>
            </a:r>
            <a:r>
              <a:rPr lang="zh-CN" sz="17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可进一步测试倒叙叙事的鲁棒性，并量化多轮验证修正的计算开销。</a:t>
            </a:r>
            <a:endParaRPr lang="zh-CN" sz="17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11480" y="5879592"/>
            <a:ext cx="11365992" cy="438912"/>
          </a:xfrm>
          <a:prstGeom prst="rect">
            <a:avLst/>
          </a:prstGeom>
          <a:solidFill>
            <a:srgbClr val="ED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5948172"/>
            <a:ext cx="1106424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可借鉴的方法：多源软建议 → 全局结构验证 → 表示与图的交替修正。</a:t>
            </a:r>
            <a:endParaRPr lang="zh-CN" sz="17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ajorFont>
      <a:min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ajorFont>
      <a:min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4752</Words>
  <Application>WPS 演示</Application>
  <PresentationFormat>On-screen Show (4:3)</PresentationFormat>
  <Paragraphs>511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黑体</vt:lpstr>
      <vt:lpstr>Arial Unicode MS</vt:lpstr>
      <vt:lpstr>BatangChe</vt:lpstr>
      <vt:lpstr>AMGDT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SVRECI：面向叙事一致性的文档级事件因果识别</dc:title>
  <dc:creator>论文阅读汇报</dc:creator>
  <cp:keywords>SVRECI, ACL 2026, THP, 动态因果图, 双层对比学习</cp:keywords>
  <dc:description>generated using python-pptx</dc:description>
  <dc:subject>示例版式复刻｜前两页独立完整汇报｜后续扩展</dc:subject>
  <cp:lastModifiedBy>Flechazo</cp:lastModifiedBy>
  <cp:revision>8</cp:revision>
  <dcterms:created xsi:type="dcterms:W3CDTF">2013-01-27T09:14:00Z</dcterms:created>
  <dcterms:modified xsi:type="dcterms:W3CDTF">2026-10-23T05:54:09Z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2E9BAD1144DB4D8F8C0A77514CE9CCC8_12</vt:lpwstr>
  </property>
</Properties>
</file>