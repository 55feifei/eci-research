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9a399be0134045" /><Relationship Type="http://schemas.openxmlformats.org/officeDocument/2006/relationships/extended-properties" Target="/docProps/app.xml" Id="R8b3a278824db46af" /><Relationship Type="http://schemas.openxmlformats.org/officeDocument/2006/relationships/officeDocument" Target="/ppt/presentation.xml" Id="R9faa0420bca34d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fd2e7e2c0f486d"/>
  </p:sldMasterIdLst>
  <p:notesMasterIdLst>
    <p:notesMasterId xmlns:r="http://schemas.openxmlformats.org/officeDocument/2006/relationships" r:id="R52d8116f320446e8"/>
  </p:notesMasterIdLst>
  <p:sldIdLst>
    <p:sldId xmlns:r="http://schemas.openxmlformats.org/officeDocument/2006/relationships" id="256" r:id="Ra0a2279e6d1c4aef"/>
    <p:sldId xmlns:r="http://schemas.openxmlformats.org/officeDocument/2006/relationships" id="257" r:id="Rb8e10cdc0d3f42a4"/>
    <p:sldId xmlns:r="http://schemas.openxmlformats.org/officeDocument/2006/relationships" id="258" r:id="R2c84c83866c24896"/>
    <p:sldId xmlns:r="http://schemas.openxmlformats.org/officeDocument/2006/relationships" id="259" r:id="R39777adacf5144df"/>
    <p:sldId xmlns:r="http://schemas.openxmlformats.org/officeDocument/2006/relationships" id="260" r:id="Rb57d25cb42574299"/>
    <p:sldId xmlns:r="http://schemas.openxmlformats.org/officeDocument/2006/relationships" id="261" r:id="Rf347d869a0204fc4"/>
    <p:sldId xmlns:r="http://schemas.openxmlformats.org/officeDocument/2006/relationships" id="262" r:id="R7b322d4c2053417d"/>
    <p:sldId xmlns:r="http://schemas.openxmlformats.org/officeDocument/2006/relationships" id="263" r:id="Rb7053672e60f49d2"/>
    <p:sldId xmlns:r="http://schemas.openxmlformats.org/officeDocument/2006/relationships" id="264" r:id="Rc946c2a9b422413a"/>
    <p:sldId xmlns:r="http://schemas.openxmlformats.org/officeDocument/2006/relationships" id="265" r:id="R56735d3da2694d77"/>
  </p:sldIdLst>
  <p:sldSz cx="12191999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微软雅黑"/>
        <a:ea typeface="微软雅黑"/>
        <a:cs typeface="微软雅黑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caac3a533746b4" /><Relationship Type="http://schemas.openxmlformats.org/officeDocument/2006/relationships/slideMaster" Target="/ppt/slideMasters/slideMaster1.xml" Id="Rf8fd2e7e2c0f486d" /><Relationship Type="http://schemas.openxmlformats.org/officeDocument/2006/relationships/notesMaster" Target="/ppt/notesMasters/notesMaster1.xml" Id="R52d8116f320446e8" /><Relationship Type="http://schemas.openxmlformats.org/officeDocument/2006/relationships/presProps" Target="/ppt/presProps.xml" Id="Rd30413db636648ff" /><Relationship Type="http://schemas.openxmlformats.org/officeDocument/2006/relationships/viewProps" Target="/ppt/viewProps.xml" Id="Rfe681b5ef2df4d11" /><Relationship Type="http://schemas.openxmlformats.org/officeDocument/2006/relationships/tableStyles" Target="/ppt/tableStyles.xml" Id="R2c709d20373942e7" /><Relationship Type="http://schemas.openxmlformats.org/officeDocument/2006/relationships/slide" Target="/ppt/slides/slide1.xml" Id="Ra0a2279e6d1c4aef" /><Relationship Type="http://schemas.openxmlformats.org/officeDocument/2006/relationships/slide" Target="/ppt/slides/slide2.xml" Id="Rb8e10cdc0d3f42a4" /><Relationship Type="http://schemas.openxmlformats.org/officeDocument/2006/relationships/slide" Target="/ppt/slides/slide3.xml" Id="R2c84c83866c24896" /><Relationship Type="http://schemas.openxmlformats.org/officeDocument/2006/relationships/slide" Target="/ppt/slides/slide4.xml" Id="R39777adacf5144df" /><Relationship Type="http://schemas.openxmlformats.org/officeDocument/2006/relationships/slide" Target="/ppt/slides/slide5.xml" Id="Rb57d25cb42574299" /><Relationship Type="http://schemas.openxmlformats.org/officeDocument/2006/relationships/slide" Target="/ppt/slides/slide6.xml" Id="Rf347d869a0204fc4" /><Relationship Type="http://schemas.openxmlformats.org/officeDocument/2006/relationships/slide" Target="/ppt/slides/slide7.xml" Id="R7b322d4c2053417d" /><Relationship Type="http://schemas.openxmlformats.org/officeDocument/2006/relationships/slide" Target="/ppt/slides/slide8.xml" Id="Rb7053672e60f49d2" /><Relationship Type="http://schemas.openxmlformats.org/officeDocument/2006/relationships/slide" Target="/ppt/slides/slide9.xml" Id="Rc946c2a9b422413a" /><Relationship Type="http://schemas.openxmlformats.org/officeDocument/2006/relationships/slide" Target="/ppt/slides/slide10.xml" Id="R56735d3da269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8f2441a58e4a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6495bb76e24aab" /><Relationship Type="http://schemas.openxmlformats.org/officeDocument/2006/relationships/notesMaster" Target="/ppt/notesMasters/notesMaster1.xml" Id="Rb771a235d11c4b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d4cfb28a8e45c6" /><Relationship Type="http://schemas.openxmlformats.org/officeDocument/2006/relationships/notesMaster" Target="/ppt/notesMasters/notesMaster1.xml" Id="Rd2ad503205ba4f1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d3962a544a4ed2" /><Relationship Type="http://schemas.openxmlformats.org/officeDocument/2006/relationships/notesMaster" Target="/ppt/notesMasters/notesMaster1.xml" Id="R66856818856747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3862a0a604087" /><Relationship Type="http://schemas.openxmlformats.org/officeDocument/2006/relationships/notesMaster" Target="/ppt/notesMasters/notesMaster1.xml" Id="Rae748cb4c2d149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b1291f5cb44f21" /><Relationship Type="http://schemas.openxmlformats.org/officeDocument/2006/relationships/notesMaster" Target="/ppt/notesMasters/notesMaster1.xml" Id="Rbbfccd9857c14c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ced0ba2ed54523" /><Relationship Type="http://schemas.openxmlformats.org/officeDocument/2006/relationships/notesMaster" Target="/ppt/notesMasters/notesMaster1.xml" Id="R50260908721348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a9c295cca348dd" /><Relationship Type="http://schemas.openxmlformats.org/officeDocument/2006/relationships/notesMaster" Target="/ppt/notesMasters/notesMaster1.xml" Id="R98cb92389d814e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e9a3664ef34898" /><Relationship Type="http://schemas.openxmlformats.org/officeDocument/2006/relationships/notesMaster" Target="/ppt/notesMasters/notesMaster1.xml" Id="R01233ef4929d40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42dc23e57244803" /><Relationship Type="http://schemas.openxmlformats.org/officeDocument/2006/relationships/notesMaster" Target="/ppt/notesMasters/notesMaster1.xml" Id="R9ffdf017163b48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001e4647c654d6b" /><Relationship Type="http://schemas.openxmlformats.org/officeDocument/2006/relationships/notesMaster" Target="/ppt/notesMasters/notesMaster1.xml" Id="R0e30d84c25c5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本页介绍论文身份与任务。论文发表于 ACL 2026 主会长文，页码19067–19091。输入包含给定事件提及的文档，目标是识别事件间因果关系；论文另设方向性评测。任务的难点不止是判断两个词是否语义相关，还要让多条边在整篇故事中相互协调。汇报重点为建议、验证、修正三个阶段及其训练闭环。来源：PDF第1–3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因果链依据原文图1(b)重绘，仅展示主干概念，事件提及编号未展开。右侧为多因多果的机制示意，并非实验样本。共指超图负责共享结构，不预先给事件对赋因果标签。第二项创新把候选边置于全局叙事传播结构中检查。第三项创新通过多轮更新与两种对比目标区分类因、类果角色，以及因果与非因果事件对。叙事顺序仅为软先验。来源：引言、图1、附录A及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图按论文图2及方法章节重绘，所有模块和连线均可编辑。初始节点表示采用BERT-base-uncased，提及跨度均值池化。Suggest由LLM四维启发式和无向结构超图产生软建议。Verify在最新候选结构上使用THP校准一致性边权。Revise通过句内与跨句异构图传播更新表示，并以结构感知对比学习增强角色和关系边界判别，更新图再回送Verify。训练时THP负对数似然与判别损失采用交替优化，而非将LLM输出直接当作最终标签。来源：§3及附录H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启发式的四个维度是语义、因果角色、依存与时序，整体分数为四维置信度的平均值，K=4。超图不包含因果标签或方向假设。结构特征一是共享超边比例，二是两个归一化位置分量的平均绝对差，三是两个节点超图度的均值。特征聚合得到结构先验。右上两组提及用于说明共指超边，非因果边。LLM先验与结构先验的融合在下一页式6展开。来源：§3.1及附录B、C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关键公式来自式5至8，负对数似然为便于展示略去求和边界：J_THP=-Σ_j log λ_j(t_j)+Σ_j ∫_0^{t_j}λ_j(t)dt。μ_j是固定叙事先验，保证没有父节点也保留独立叙事单元；κ随叙事距离衰减；A每轮随候选结构更新。β1、β2可学习，以融合LLM与超图建议。THP联合校准各边，抑制局部合理却与全篇叙事不一致的边。注意附录D明确说明叙事顺序是软先验，并非硬删除规则；THP不用于恢复真实连续时间，也不构成干预因果识别。返回给修正模块的是一致性校准后的边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左图仅演示低一致性候选被抑制，不对应论文中的具体样本，且不表示所有逆序边都被硬剪枝。式11使用有序拼接与目标减源的表示差，体现方向性。附录E在有有效边时采用异构图注意力传播，无有效边时使用线性语义更新；边类型区分intra/inter，并通过残差门控融合自身与图表示。式9以随训练进程递增的λ_t混合初始边权与随机扰动，缓解早期过度依赖先验。附录H采用EMA更新边权，系数0.6。迭代修正图后回到THP继续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损失均以附录F精确定义为准，页面展示式38和43的等价简写。事件级结构表示拼接节点自身、邻居均值及平均边权，映射并归一化后得到z。正例要求角色一致，再结合语义与结构相似度选取；困难负例角色不一致且结构最相似，随机负例为简单负例，InfoNCE分母困难负例权重2。左侧只演示类因与类果的方向区别，真实角色可更复杂。事件对级表示包含z_i、z_j、绝对差与逐元素积。因果事件对为正例，非因果集合按hardness选择top-K困难负例，然后用margin ranking拉开边界。采样随当前图动态更新，训练标签用于正负集合划分，不能在推理时使用测试标签。结构对比项在图初步收敛后才开启。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依据方法章节整理的算法步骤，不是原文独立伪代码表。编码器为BERT-base-uncased，事件提及span均值池化，维度768。动态因果图至少2轮最多9轮，正文停止条件为预测变化低于阈值且达到最小轮数；附录H写结构收敛阈值2，但未在本页给该数值赋额外单位。L_cls按每轮1/l加权α-balanced focal loss，聚焦因子γ=2。事件级λ1=0.1，τ=0.07，3个epoch预热；事件对级从epoch10起由0.05线性增加，并要求图初步收敛。THP依据式7与判别模型交替优化，不应擅自将J_THP并入式15。推理不计算需标签的训练对比项。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数值均核对PDF表1（PDF第7页，印刷页19073）。本页展示标准因果存在性识别，不与表4额外方向性评测混用。增益均为F1百分点：ESC总体相对原表最佳基线EHNEM为65.0-62.8=2.2；ESC跨句61.9-61.0=0.9；CTB句内相对PPAT为64.5-62.4=2.1。ESC句内最佳先前表值iLIF71.2，SVRECI71.9。表1中DeepSeek-v3.2为LLM零样本基线，不能等同于SVRECI中的建议模块。作者指出LLM容易高召回低精确率，而结构验证强调可靠边。原文宣称句内跨句差距不足10，但数值71.9-61.9恰为10.0，本汇报不沿用该不精确措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2给出完整模型ESC总体65.0，去掉SG61.6、TV62.2、IR60.8、CL62.1。表3单步更新变体-iter.为61.5。本页条形画的是相对完整模型下降的百分点，不是原始F1柱状图。移除IR下降4.2点最大；单步更新下降3.5，支持迭代反馈而非只进行一次图更新。不能从独立消融简单推断各模块贡献可线性相加。作者在局限章节指出提示敏感性和句序代理带来的时间噪声。倒叙鲁棒性及计算开销为本汇报的阅读思考，不是论文已完成实验。收尾重申本工作把LLM建议作为可校验候选，用全局叙事结构和双层判别目标反复优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2e62e10c9f42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f14b931d24f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ef896252fa438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61ae2f83f1401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c7f3ebe0f246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b256209f0a449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c0637a6f1488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917a16b80c48ac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5615a29b8943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c8c9725c934e7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246691dc5e4193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AD2B9B-0BD3-409A-89C5-CD66E584850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F33DEF3-657B-4DC8-A190-61423A5C521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6C3FCD-1DB0-4AC6-BFE2-058C52F0159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D2D813C-531A-44C7-AE28-EADC24D7B6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DDBE77-83DD-4C52-9E7A-D5671B0A2D1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C76359-4628-4605-AFBC-512E6E3657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D3D5562-8E4A-49F5-BCB8-EE3ACAC177B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7BCE284-241F-417C-AA1F-B86E50020A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9FCEBE-8DC2-4A39-BAF2-919AC2EE5C4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CEE52BA-C851-42C9-8C27-8E75ADFABF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0D9FE8-4BC0-46AD-A605-324406BC3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51CA9A1-9E57-442D-8C8D-E18E457BA5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F6E4E4-88B9-44D2-93B2-DBA092F2C8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3AAEE9-9DEC-43B7-AB51-DF4D6ABDC7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EF4A557-A457-4C82-B3E1-2548B609EE1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5FFF71-3C9F-48E1-85A7-37EFAA59E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B54558E-5C54-4BB9-B522-9D59DA83D4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50B4530-BF7F-475A-9FB3-6C42473320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E74BD9E-8B86-4C98-8686-40792D5C4F8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8785E05-8BDD-4272-A711-BCAC030EDE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209C0B2-BDBA-488B-A6E7-09EA552CE50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2EB23C9-422C-45BD-94C2-950A54CB9C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744F49-466A-41D4-A55D-A6BA0803DA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CE9C6A1-E034-4BCB-B575-5AB79C3FED0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664915-529D-4BFA-AFB1-DB5C27424B0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55B74272-8E38-4690-9FF6-228E14475BF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6D8864BE-367A-4DD4-9EFE-89B34ACD93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866A6000-5D85-4E1B-88AA-6574A3A661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46A8D489-C5F5-4CF1-875B-F76AF45BE9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AE7F2C-5E98-4DC3-9F20-88333EB4C1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39A3ECA-0C76-4BED-B7B9-95833942E4D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F7997CA-6A0B-4435-B54B-C3F941D00D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3BD8292A-30C9-4A65-BD49-1276B650A53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C586F4F-EDB0-46AD-906A-73A022C2056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F9948C2-8032-4D53-9042-ECAA0B8EC6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F281D1FF-DD6B-4183-B4F4-3FF5F62773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9D86740-0A45-4A28-99A7-9C5AC110F8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A76A2B0-7DC1-4617-9BBB-DA352E1256C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7D7D1AE0-8CC3-4D86-82D5-DC7C45572D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1B5D1A12-8637-4DFC-95FA-A76487F24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B9EEA51-18A5-406C-ADCD-0BF23573C98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5DD933D-4328-4598-B8D9-FF7ABA670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36D390-2683-42F3-B3A9-6D48B1CFEE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0C6E1DA-C87E-488C-A914-37B6F14C7EC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D72902D-4F58-42AC-AC40-8AAE0668C8D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35404AD-DFF3-4873-B050-E6B43CA58F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7C390E-ED8E-42CC-91F9-E05A767119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50CB80E-8D20-47A6-A347-6FFABDE45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3B0D4C-D863-4831-AE56-AB926F3B83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3106AF7-2926-428B-8621-55075B4672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C0ABA28-A936-4E0B-A056-A8E3873E78F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0BD6BC-347F-4DA0-9F27-19ED55EBE0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4764C7C-17C1-4746-BC20-5344928944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639B21C-ED1F-47C9-8B7C-EDB279D6DE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CA3F58-9B78-4EAD-99FA-F852A56E91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9457CC6-F456-4E61-830C-B817AAC2782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CC82878-50FE-43BB-AC5F-273F18B5A10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45B82E-2D9E-438A-8304-9F9B5DCC580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8072058dcb4641" /><Relationship Type="http://schemas.openxmlformats.org/officeDocument/2006/relationships/slideLayout" Target="/ppt/slideLayouts/slideLayout1.xml" Id="R9506720f6fe54a20" /><Relationship Type="http://schemas.openxmlformats.org/officeDocument/2006/relationships/slideLayout" Target="/ppt/slideLayouts/slideLayout2.xml" Id="R4f7d030c06a44754" /><Relationship Type="http://schemas.openxmlformats.org/officeDocument/2006/relationships/slideLayout" Target="/ppt/slideLayouts/slideLayout3.xml" Id="Rb353d3d2674f44e7" /><Relationship Type="http://schemas.openxmlformats.org/officeDocument/2006/relationships/slideLayout" Target="/ppt/slideLayouts/slideLayout4.xml" Id="Rd33123ce4a2d40e0" /><Relationship Type="http://schemas.openxmlformats.org/officeDocument/2006/relationships/slideLayout" Target="/ppt/slideLayouts/slideLayout5.xml" Id="Re0447febeec843b2" /><Relationship Type="http://schemas.openxmlformats.org/officeDocument/2006/relationships/slideLayout" Target="/ppt/slideLayouts/slideLayout6.xml" Id="R98375c6a1ed64a21" /><Relationship Type="http://schemas.openxmlformats.org/officeDocument/2006/relationships/slideLayout" Target="/ppt/slideLayouts/slideLayout7.xml" Id="R9994207d6b8e42b5" /><Relationship Type="http://schemas.openxmlformats.org/officeDocument/2006/relationships/slideLayout" Target="/ppt/slideLayouts/slideLayout8.xml" Id="R236b157eb5494268" /><Relationship Type="http://schemas.openxmlformats.org/officeDocument/2006/relationships/slideLayout" Target="/ppt/slideLayouts/slideLayout9.xml" Id="R4658b039c88b4e48" /><Relationship Type="http://schemas.openxmlformats.org/officeDocument/2006/relationships/slideLayout" Target="/ppt/slideLayouts/slideLayout10.xml" Id="R5ba806b4c454427e" /><Relationship Type="http://schemas.openxmlformats.org/officeDocument/2006/relationships/slideLayout" Target="/ppt/slideLayouts/slideLayout11.xml" Id="Re0e66f86cbd74d1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9534B7-97AF-4594-8DA8-6853A5AEEA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08B36B8-23D4-42DE-A84C-EFC6B2FE4B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1A81304-4B9F-4B3B-B5ED-24E261FD9DA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C22E082-52D0-4028-A84C-00BF2A9B60F7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CD5AE30-5A13-43AD-901C-CE606FA5F4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06720f6fe54a20"/>
    <p:sldLayoutId xmlns:r="http://schemas.openxmlformats.org/officeDocument/2006/relationships" id="2147483650" r:id="R4f7d030c06a44754"/>
    <p:sldLayoutId xmlns:r="http://schemas.openxmlformats.org/officeDocument/2006/relationships" id="2147483651" r:id="Rb353d3d2674f44e7"/>
    <p:sldLayoutId xmlns:r="http://schemas.openxmlformats.org/officeDocument/2006/relationships" id="2147483652" r:id="Rd33123ce4a2d40e0"/>
    <p:sldLayoutId xmlns:r="http://schemas.openxmlformats.org/officeDocument/2006/relationships" id="2147483653" r:id="Re0447febeec843b2"/>
    <p:sldLayoutId xmlns:r="http://schemas.openxmlformats.org/officeDocument/2006/relationships" id="2147483654" r:id="R98375c6a1ed64a21"/>
    <p:sldLayoutId xmlns:r="http://schemas.openxmlformats.org/officeDocument/2006/relationships" id="2147483655" r:id="R9994207d6b8e42b5"/>
    <p:sldLayoutId xmlns:r="http://schemas.openxmlformats.org/officeDocument/2006/relationships" id="2147483656" r:id="R236b157eb5494268"/>
    <p:sldLayoutId xmlns:r="http://schemas.openxmlformats.org/officeDocument/2006/relationships" id="2147483657" r:id="R4658b039c88b4e48"/>
    <p:sldLayoutId xmlns:r="http://schemas.openxmlformats.org/officeDocument/2006/relationships" id="2147483658" r:id="R5ba806b4c454427e"/>
    <p:sldLayoutId xmlns:r="http://schemas.openxmlformats.org/officeDocument/2006/relationships" id="2147483659" r:id="Re0e66f86cbd74d1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微软雅黑"/>
          <a:ea typeface="微软雅黑"/>
          <a:cs typeface="微软雅黑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微软雅黑"/>
        <a:buChar char="•"/>
        <a:defRPr sz="32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微软雅黑"/>
        <a:buChar char="–"/>
        <a:defRPr sz="28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微软雅黑"/>
        <a:buChar char="•"/>
        <a:defRPr sz="24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微软雅黑"/>
        <a:buChar char="–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微软雅黑"/>
        <a:buChar char="»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微软雅黑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微软雅黑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微软雅黑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微软雅黑"/>
        <a:buChar char="•"/>
        <a:defRPr sz="2000" kern="1200">
          <a:solidFill>
            <a:schemeClr val="tx1"/>
          </a:solidFill>
          <a:latin typeface="微软雅黑"/>
          <a:ea typeface="微软雅黑"/>
          <a:cs typeface="微软雅黑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微软雅黑"/>
          <a:ea typeface="微软雅黑"/>
          <a:cs typeface="微软雅黑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62cdfeeee7436d" /><Relationship Type="http://schemas.openxmlformats.org/officeDocument/2006/relationships/notesSlide" Target="/ppt/notesSlides/notesSlide1.xml" Id="R8c6cdc44ad664e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a16679746d491b" /><Relationship Type="http://schemas.openxmlformats.org/officeDocument/2006/relationships/notesSlide" Target="/ppt/notesSlides/notesSlide2.xml" Id="R3ec52d428a40494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cd64429fe146cc" /><Relationship Type="http://schemas.openxmlformats.org/officeDocument/2006/relationships/notesSlide" Target="/ppt/notesSlides/notesSlide3.xml" Id="R649a17a4b6c145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6624d1cc8a446a" /><Relationship Type="http://schemas.openxmlformats.org/officeDocument/2006/relationships/notesSlide" Target="/ppt/notesSlides/notesSlide4.xml" Id="R99b750e9ccbe48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537ae95cf0646d7" /><Relationship Type="http://schemas.openxmlformats.org/officeDocument/2006/relationships/notesSlide" Target="/ppt/notesSlides/notesSlide5.xml" Id="Rf93d9de74a0142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1857b3337044b64" /><Relationship Type="http://schemas.openxmlformats.org/officeDocument/2006/relationships/notesSlide" Target="/ppt/notesSlides/notesSlide6.xml" Id="Re43f90fe6aab4de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440858a937549b7" /><Relationship Type="http://schemas.openxmlformats.org/officeDocument/2006/relationships/notesSlide" Target="/ppt/notesSlides/notesSlide7.xml" Id="R5dd1c6f80e664c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f26026810745d3" /><Relationship Type="http://schemas.openxmlformats.org/officeDocument/2006/relationships/notesSlide" Target="/ppt/notesSlides/notesSlide8.xml" Id="R6c1ac13e76d844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57fea6cdf4482b" /><Relationship Type="http://schemas.openxmlformats.org/officeDocument/2006/relationships/notesSlide" Target="/ppt/notesSlides/notesSlide9.xml" Id="R33c9c35d3040418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aa664e722b846f6" /><Relationship Type="http://schemas.openxmlformats.org/officeDocument/2006/relationships/notesSlide" Target="/ppt/notesSlides/notesSlide10.xml" Id="Rd7eb8ffe558a42a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E12DD17-AFD2-48B7-BD0C-700AD3CE1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89E732-B10A-4A3B-9B36-A1831105A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10405FF-20E7-4028-8B87-CA19B878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BBFBB7-6AF2-4C00-AF3E-478BCC720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SVRECI：面向叙事一致性的文档级事件因果识别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760AB327-99F1-423D-B742-BE1E6043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3984942-D455-4671-A7A5-79D7061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698385C-E54E-41AC-A385-B903C8FE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引言 / 方法概览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ED127B5-7CA8-44BC-BCEA-CD7671113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01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21DCAA7-50FA-495F-BC43-F8933E2A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664208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4E2C277-330A-45E5-AA47-14FE7527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1664208"/>
            <a:ext cx="5148072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任务领域：</a:t>
            </a: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文档级事件因果识别（DECI）。给定文档与事件提及，判定任意事件对是否存在因果关系。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8AD1E9A-038C-4916-8F81-D1A7AE80C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852928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E35CD6E-9CCF-4543-AEF7-3D511E9B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852928"/>
            <a:ext cx="5148072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背景知识：</a:t>
            </a: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因果边具有方向性；多个事件通过跨句依赖，构成贯穿文档的叙事因果主干。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E4B8AA55-97C9-4942-B3C1-B719D1F9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05072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EC67B5E-1371-4FCB-91C3-FC657DD49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05072"/>
            <a:ext cx="5148072" cy="10058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8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核心思路：</a:t>
            </a: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先提出候选，再进行全局一致性验证，通过动态图与对比学习反复修正。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01FD3BAE-1BDB-4268-917C-B2A1A878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645920"/>
            <a:ext cx="0" cy="38862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B235D95-97FD-4DA7-A910-2E969B744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73352"/>
            <a:ext cx="5029200" cy="1353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Suggest-Verify-Revise: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A Three-Stage Document-Level Event Causality Identification with Narrative Consistency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62854D6-06AA-467D-AF3E-DDBE456C3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099816"/>
            <a:ext cx="502920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Ya Su, Hu Zhang, et al.  ·  山西大学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C79C31A-693C-4B74-AF87-6F3A769A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3483864"/>
            <a:ext cx="2852928" cy="40233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FD7B74B-52FA-4E3A-A32B-29498ED1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02152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ACL 2026 · Long Papers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E33268A-DE20-4224-9E93-F8B8E1080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288536"/>
            <a:ext cx="1353312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C0C6E1E-2269-4C24-8B85-84DC77A5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4808" y="4302252"/>
            <a:ext cx="1298448" cy="79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Suggest</a:t>
            </a:r>
          </a:p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建议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1FD01C78-6039-4C49-914F-3C05E80E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4288536"/>
            <a:ext cx="1353312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03EB528-E74C-4B8A-A715-ECCBA91FD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3" y="4302252"/>
            <a:ext cx="1298448" cy="79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Verify</a:t>
            </a:r>
          </a:p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D49E5A34-254C-470E-975E-FDD5CC7B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6688" y="4288536"/>
            <a:ext cx="1353312" cy="82296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5EC"/>
          </a:solidFill>
          <a:ln xmlns:a="http://schemas.openxmlformats.org/drawingml/2006/main" w="15240">
            <a:solidFill>
              <a:srgbClr val="B67D3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186D3D6-35C3-4EF8-9DB4-6FA5DAA3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4119" y="4302252"/>
            <a:ext cx="1298448" cy="7955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Revise</a:t>
            </a:r>
          </a:p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修正</a:t>
            </a:r>
          </a:p>
        </p:txBody>
      </p:sp>
      <p:sp>
        <p:nvSpPr>
          <p:cNvPr id="27" name="Connector 26">
            <a:extLst xmlns:a="http://schemas.openxmlformats.org/drawingml/2006/main">
              <a:ext uri="{FF2B5EF4-FFF2-40B4-BE49-F238E27FC236}">
                <a16:creationId xmlns:a16="http://schemas.microsoft.com/office/drawing/2014/main" id="{6948C23A-77AF-454A-A9A6-0A631FE1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6408" y="4700016"/>
            <a:ext cx="33832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F95047F6-C588-4A19-8042-C04C16FA9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700016"/>
            <a:ext cx="33832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8FEF282F-D025-463B-82A2-5BC6F052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5321808"/>
            <a:ext cx="51206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关键词：叙事一致性 / 动态因果图 / 角色分化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B6F36E50-9A66-4346-842F-3D6C465F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79592"/>
            <a:ext cx="113659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58E3FE8-AEF0-4A25-82DF-0BD92B92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8172"/>
            <a:ext cx="110642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论文主线：把独立事件对的局部判断，推进为文档因果结构的迭代优化。</a:t>
            </a:r>
          </a:p>
        </p:txBody>
      </p:sp>
    </p:spTree>
    <p:extLst>
      <p:ext uri="{BB962C8B-B14F-4D97-AF65-F5344CB8AC3E}">
        <p14:creationId xmlns:p14="http://schemas.microsoft.com/office/powerpoint/2010/main" val="23958947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9D9EB6-9AA5-4581-9C56-F1713CC0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EEA1A5D-371F-4194-A8A1-010F2EC6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0F01193-7129-400D-8668-31D34193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28B1AD-FF3F-4268-9CB5-0F02D6DC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问题与创新：从“局部相关”走向“全局叙事一致”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ACB363F0-6E18-431D-8A9E-52BBA2FE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2B615C1-A9CE-4A12-B2E0-402F1E5E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16689EC-0A5B-4D60-89DC-9B3CCF06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图 1 / 引言 / 附录 A、D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181B191-B147-470A-83F5-5981AE88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02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28D87BD-1A3F-410D-A432-ADC6AEFC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57607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挑战 1：因果主干被割裂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95A7613-8614-450B-BBCD-BC0ACF61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11680"/>
            <a:ext cx="56692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跨句传播 + 同一概念的多次提及，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使独立事件对判断难以拼成完整故事。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050C2C4E-A152-42C1-9C25-C0CC8D3D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44368"/>
            <a:ext cx="960120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14350D0-7B97-4664-8425-7EE6FCA28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958084"/>
            <a:ext cx="905256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枪击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0E330E13-5C64-4392-98E2-7921CB00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3352" y="2944368"/>
            <a:ext cx="960120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71690C7-2739-41DA-B92F-F484E9808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958084"/>
            <a:ext cx="905256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被杀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E0C751B8-B82C-44C4-AE3F-C0EECE71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3784" y="2944368"/>
            <a:ext cx="960120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21B944F-4B49-4FF6-B317-B23B0D6E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5" y="2958084"/>
            <a:ext cx="905256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死亡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35328FC-D012-4F92-93BC-0E2A52BA3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215" y="2944368"/>
            <a:ext cx="960120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B55DD31-1D1A-4B72-BAFF-7E034D50D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1648" y="2958084"/>
            <a:ext cx="905256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愤怒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C442E8C0-30CA-49C8-A073-58AB7A1E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944368"/>
            <a:ext cx="960120" cy="51206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21555FF-2355-4528-AFC6-A146D110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958084"/>
            <a:ext cx="905256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骚乱</a:t>
            </a: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63AEABA2-F781-4FCF-A36D-97329A841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3200400"/>
            <a:ext cx="15544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B6FDEADB-D46B-4F68-8B01-20D5E969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3200400"/>
            <a:ext cx="15544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A71781CE-B7A3-4680-946A-F4A3816B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191" y="3200400"/>
            <a:ext cx="15544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8145F261-A334-4563-ADE2-F19BFD2B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2624" y="3200400"/>
            <a:ext cx="15544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ECDA04FA-A781-46E3-84CC-797FCF87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48456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shot → killed → death → anger → riot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3F4E2D89-9450-48F4-A785-D4B2F6DD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468112" cy="5669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A275935-3BF9-4E72-B5B4-9B4559F6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4270248"/>
            <a:ext cx="5358384" cy="530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创新 ①：LLM 启发式 + 共指超图结构建议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8B02C0B-EFD7-4EF7-9F9B-F9FFFB0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5001768"/>
            <a:ext cx="5349240" cy="60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让语义证据与概念共享结构共同提供候选支撑。</a:t>
            </a: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E498E8EE-ECD6-4848-95E7-096954A1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572768"/>
            <a:ext cx="0" cy="40050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11E31FA-A458-422F-AC9D-5E0FE78A6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1572768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挑战 2：多因多果下的角色混淆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9FAD94C-75B5-41C0-A109-B7F2F683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2011680"/>
            <a:ext cx="5166360" cy="5577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一个事件可同时承担“果”与“因”的角色；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共现或共享前因并不足以证明两者互为因果。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D6C21BC4-6D78-4543-8CC5-22651FD4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889504"/>
            <a:ext cx="1097280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4E79EAA8-2E81-41D2-AC8D-22684807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903220"/>
            <a:ext cx="1042415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原因 A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726767B6-9DCB-4FBF-9745-BE4FC72C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657600"/>
            <a:ext cx="1097280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99D8ED2C-F983-47DA-9EDA-A4E225B2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3671315"/>
            <a:ext cx="1042415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原因 B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A5A7B2C-644D-4957-B194-42948071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3264408"/>
            <a:ext cx="1097280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B10C6D1-260D-4E9B-9EAA-123458B0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1" y="3278124"/>
            <a:ext cx="1042415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事件 C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E53038FD-9FD0-4ED9-B574-B15EB409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2889504"/>
            <a:ext cx="1097280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EE6ABAE-4476-41D0-BD00-FE57DEE1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1" y="2903220"/>
            <a:ext cx="1042415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结果 D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5C44DB43-2998-4517-BEB1-C2D5A69D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657600"/>
            <a:ext cx="1097280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84C8591-A05B-4A68-9493-3051878D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7311" y="3671315"/>
            <a:ext cx="1042415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结果 E</a:t>
            </a:r>
          </a:p>
        </p:txBody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FB4CE619-A340-4B79-802F-6B518D34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3127248"/>
            <a:ext cx="685800" cy="3474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C8D91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Connector 43">
            <a:extLst xmlns:a="http://schemas.openxmlformats.org/drawingml/2006/main">
              <a:ext uri="{FF2B5EF4-FFF2-40B4-BE49-F238E27FC236}">
                <a16:creationId xmlns:a16="http://schemas.microsoft.com/office/drawing/2014/main" id="{3BE070E9-00F2-4143-9361-9FED3555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909560" y="3520440"/>
            <a:ext cx="685800" cy="37490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C8D91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Connector 44">
            <a:extLst xmlns:a="http://schemas.openxmlformats.org/drawingml/2006/main">
              <a:ext uri="{FF2B5EF4-FFF2-40B4-BE49-F238E27FC236}">
                <a16:creationId xmlns:a16="http://schemas.microsoft.com/office/drawing/2014/main" id="{93EF69DB-7D0C-4FD5-B9F7-D6B550DB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738360" y="3127248"/>
            <a:ext cx="676656" cy="347472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C8D91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Connector 45">
            <a:extLst xmlns:a="http://schemas.openxmlformats.org/drawingml/2006/main">
              <a:ext uri="{FF2B5EF4-FFF2-40B4-BE49-F238E27FC236}">
                <a16:creationId xmlns:a16="http://schemas.microsoft.com/office/drawing/2014/main" id="{F0E864B5-EFAD-4060-ACE1-090E4921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520440"/>
            <a:ext cx="676656" cy="374904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C8D91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B060EE52-5160-4885-BEBB-12B20AE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895344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果 ← C → 因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B952FB49-1025-43E7-848F-1D85E740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4434840"/>
            <a:ext cx="516636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682ED5E2-6C91-472B-B670-5E8D799A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4453127"/>
            <a:ext cx="5056632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创新 ②：THP 全局叙事一致性验证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042877B2-3170-4338-8D93-CA214331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1112" y="5047488"/>
            <a:ext cx="5166360" cy="4572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5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14FBC768-D846-4BDD-A78E-1E39AB23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976" y="5065775"/>
            <a:ext cx="5056632" cy="4206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创新 ③：动态图修正 + 双层结构对比学习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5378DDEC-CF88-44ED-A572-4E992458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79592"/>
            <a:ext cx="113659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E1512A86-8B0D-4081-B1FB-59FADBDC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8172"/>
            <a:ext cx="110642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关键区别：相似、共现和时间先后都只能提供证据；因果边还需接受结构验证。</a:t>
            </a:r>
          </a:p>
        </p:txBody>
      </p:sp>
    </p:spTree>
    <p:extLst>
      <p:ext uri="{BB962C8B-B14F-4D97-AF65-F5344CB8AC3E}">
        <p14:creationId xmlns:p14="http://schemas.microsoft.com/office/powerpoint/2010/main" val="115154043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154FBA-0C3B-435C-A10F-8A76E8B6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5DFE27B-9461-4764-AB32-63D4D9DE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828AD0F-43A4-45E3-8FFA-F46186CB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23FF67-C693-455E-9586-FB978077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总体框架：Suggest → Verify ⇄ Revise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F9B4388C-A1A0-4D25-B9A6-76924BA75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3B6931E-4E6A-43AC-8BFD-6F6EA49A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2F4C536-5420-489C-B5C0-CD8F1CC9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图 2 / §3.1–3.4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B79E179-1506-4C55-8032-12B4DC5F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03 / 10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78214DC-F685-4072-88A1-63A7A1CEA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490472"/>
            <a:ext cx="11365992" cy="42976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6719BC5-5E93-4B63-9D2E-83561DE9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1508760"/>
            <a:ext cx="11256264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输入：文档 + 事件提及     →     BERT 编码与跨度池化     →     初始事件表示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85D50B2A-2FC7-48F8-856C-6792500C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12848"/>
            <a:ext cx="3538728" cy="2788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C75400B-A5C4-4897-A94E-51955885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212848"/>
            <a:ext cx="3538728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E751B09-6509-4A17-B2E6-BE1A8EBF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295144"/>
            <a:ext cx="32918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① Suggest · 多源建议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0921F38-1643-4006-9A8D-DCBEC66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212848"/>
            <a:ext cx="3538728" cy="2788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818BE84-00F6-4E2B-820E-6CC68A8D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2212848"/>
            <a:ext cx="3538728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BD72D85-253E-4145-9DDE-CCE0B30A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295144"/>
            <a:ext cx="32918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② Verify · 一致性验证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C57E28A-0E49-4B08-A217-420B87F2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212848"/>
            <a:ext cx="3538728" cy="278892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67D3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107704C-64B9-4C86-A0C5-12022733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8744" y="2212848"/>
            <a:ext cx="3538728" cy="4846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5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8A39892-B305-446B-887E-24B0BA57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295144"/>
            <a:ext cx="3291840" cy="3291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③ Revise · 动态图修正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0B0FDA7-986A-40D3-A77E-721EDC60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16936"/>
            <a:ext cx="3072384" cy="5303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60BCFBD-992B-4C57-A330-7712F532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930652"/>
            <a:ext cx="3017520" cy="50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LLM：语义 / 角色 / 依存 / 时序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872EA7E5-B054-4573-83FE-13AC66DE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03320"/>
            <a:ext cx="3072384" cy="5303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923FC48-8F87-49AE-8BEC-47645E9E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17035"/>
            <a:ext cx="3017520" cy="50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超图：共指与结构共享</a:t>
            </a:r>
          </a:p>
        </p:txBody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C4CF6C4F-602A-4166-BDD3-54007335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465576"/>
            <a:ext cx="0" cy="17373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A9BB3B09-2C82-4214-93C7-51EEC667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43984"/>
            <a:ext cx="3072384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输出：融合后的软因果先验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9F6B1DDB-65FB-4579-B9D7-D79023A8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2916936"/>
            <a:ext cx="3072384" cy="5303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2E03FEB-A532-411B-88F5-9C9AD635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2930652"/>
            <a:ext cx="3017520" cy="50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叙事时间：TLINK 或句序代理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0ADFCD22-495A-4F05-868D-DF3D8F3F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3703320"/>
            <a:ext cx="3072384" cy="5303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4A7CB34-4D89-47E3-9E54-FFC8ADA5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3717035"/>
            <a:ext cx="3017520" cy="50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THP：联合检验候选因果结构</a:t>
            </a:r>
          </a:p>
        </p:txBody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6D2F6719-B87C-42DE-8B1F-2B03603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3465576"/>
            <a:ext cx="0" cy="17373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C8D91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38C5987-7510-41B8-874F-D25160D0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3712" y="4443984"/>
            <a:ext cx="3072384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输出：全局一致性校准的边权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808133B6-6CD5-41D6-BD0D-4F48C36D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2916936"/>
            <a:ext cx="3072384" cy="5303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5EC"/>
          </a:solidFill>
          <a:ln xmlns:a="http://schemas.openxmlformats.org/drawingml/2006/main" w="15240">
            <a:solidFill>
              <a:srgbClr val="B67D3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DB26817-FBFA-42F2-8A29-787FDE5F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2930652"/>
            <a:ext cx="3017520" cy="50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异构图传播 → 更新事件表示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E346F7FF-8AED-4E6A-AC9B-F50229BE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3703320"/>
            <a:ext cx="3072384" cy="5303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5EC"/>
          </a:solidFill>
          <a:ln xmlns:a="http://schemas.openxmlformats.org/drawingml/2006/main" w="15240">
            <a:solidFill>
              <a:srgbClr val="B67D3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7CBEF13F-993D-40BD-B75D-C92621A9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4776" y="3717035"/>
            <a:ext cx="3017520" cy="5029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1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双层对比 → 重评分与抑噪</a:t>
            </a:r>
          </a:p>
        </p:txBody>
      </p:sp>
      <p:sp>
        <p:nvSpPr>
          <p:cNvPr id="37" name="Connector 36">
            <a:extLst xmlns:a="http://schemas.openxmlformats.org/drawingml/2006/main">
              <a:ext uri="{FF2B5EF4-FFF2-40B4-BE49-F238E27FC236}">
                <a16:creationId xmlns:a16="http://schemas.microsoft.com/office/drawing/2014/main" id="{38AB35C1-A5FF-47BA-B1ED-6734B0B0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3465576"/>
            <a:ext cx="0" cy="173736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B67D39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F5C031F4-26F8-473A-82A8-64CFEE0D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443984"/>
            <a:ext cx="3072384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输出：修正后的候选因果图</a:t>
            </a:r>
          </a:p>
        </p:txBody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A9ECEACE-CE02-4DE9-84EA-AA96AFAC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84" y="3438144"/>
            <a:ext cx="2743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Connector 39">
            <a:extLst xmlns:a="http://schemas.openxmlformats.org/drawingml/2006/main">
              <a:ext uri="{FF2B5EF4-FFF2-40B4-BE49-F238E27FC236}">
                <a16:creationId xmlns:a16="http://schemas.microsoft.com/office/drawing/2014/main" id="{2A0DD092-D383-49B3-9572-E4946745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0416" y="3438144"/>
            <a:ext cx="274320" cy="0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3C8D91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Connector 40">
            <a:extLst xmlns:a="http://schemas.openxmlformats.org/drawingml/2006/main">
              <a:ext uri="{FF2B5EF4-FFF2-40B4-BE49-F238E27FC236}">
                <a16:creationId xmlns:a16="http://schemas.microsoft.com/office/drawing/2014/main" id="{9698387D-D5C4-454E-865C-D688A0956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536" y="5020056"/>
            <a:ext cx="0" cy="37490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B67D3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Connector 41">
            <a:extLst xmlns:a="http://schemas.openxmlformats.org/drawingml/2006/main">
              <a:ext uri="{FF2B5EF4-FFF2-40B4-BE49-F238E27FC236}">
                <a16:creationId xmlns:a16="http://schemas.microsoft.com/office/drawing/2014/main" id="{7378893E-F6A7-4921-BC48-1ABAC6F0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89904" y="5394960"/>
            <a:ext cx="391363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B67D3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Connector 42">
            <a:extLst xmlns:a="http://schemas.openxmlformats.org/drawingml/2006/main">
              <a:ext uri="{FF2B5EF4-FFF2-40B4-BE49-F238E27FC236}">
                <a16:creationId xmlns:a16="http://schemas.microsoft.com/office/drawing/2014/main" id="{AD7F25F8-A2D4-45AA-9C44-28D8990E0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89904" y="5020056"/>
            <a:ext cx="0" cy="374904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B67D39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9C36A8B7-3A46-47A7-9030-0AEA181D0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5458968"/>
            <a:ext cx="50292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将修正图送回 THP，继续下一轮验证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649C7D27-FFD1-4B2F-8CF6-5FC21169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79592"/>
            <a:ext cx="113659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ECDFA46E-A52A-4F54-8F41-547CA2B2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8172"/>
            <a:ext cx="110642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算法核心是 Verify–Revise 闭环：用全局结构改进表示，再用更新表示修正结构。</a:t>
            </a:r>
          </a:p>
        </p:txBody>
      </p:sp>
    </p:spTree>
    <p:extLst>
      <p:ext uri="{BB962C8B-B14F-4D97-AF65-F5344CB8AC3E}">
        <p14:creationId xmlns:p14="http://schemas.microsoft.com/office/powerpoint/2010/main" val="181384148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6E7D161-025D-453D-AEEB-35392A26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D0F4338-B64E-4038-B1E3-2EA0CC696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6C2C704-B71B-479F-BC80-B082D157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3D85EEC-405B-4A87-8AF8-2B3412F3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Suggest：语义建议与结构建议如何互补？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B2001BFF-F7DE-4C6E-B9D4-2557587E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A7D26F4-8A68-412F-A1CC-0653724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823C356-3122-4C26-84F1-D524535CA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§3.1 / 式 (1)–(4) / 附录 B、C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0F6A891-FF22-4BDF-ADE3-7084F81C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04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DEA4721-2742-45FD-8B0D-A362E415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1）LLM 四维启发式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9EB8F86-EA1C-4DC7-9666-E8BEADA8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02536"/>
            <a:ext cx="5394960" cy="4846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输入候选事件对与上下文，由 DeepSeek 生成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多视角依据，并映射为 [0, 1] 的置信分数。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EB31A9A-11D0-489C-8E22-CBBBD636F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79776"/>
            <a:ext cx="2505456" cy="7223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621C9DB-D409-4419-8F99-884B0585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2852928"/>
            <a:ext cx="22860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语义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E45CAF2-4C7B-4F07-BD60-FD2DB30D9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172968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是否存在解释性联系？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C28C1D3F-A1C1-4091-BA6B-EBE97E54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2779776"/>
            <a:ext cx="2505456" cy="7223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D3A2AC3-D801-4A84-9BEE-0C8228340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2852928"/>
            <a:ext cx="22860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因果角色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4441BA4-1969-4452-AE50-4456BC5C2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172968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谁是原因，谁是结果？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5A8DC4E8-EB61-4F2B-BF4D-FE9666E4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694176"/>
            <a:ext cx="2505456" cy="7223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1FBAFD99-BE42-480A-B933-6B3C2700F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3767328"/>
            <a:ext cx="22860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依存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9DD112F-309A-4F76-9BBF-F38FFFF9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4087368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句法连接是否支持？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616ADF1-8C38-42F4-9F46-F319E8A70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0128" y="3694176"/>
            <a:ext cx="2505456" cy="7223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C4B5712-DA5F-4977-A511-5FE3E505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3767328"/>
            <a:ext cx="2286000" cy="2651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时序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336FD41-02D1-4B16-9FD5-CA5E7CF9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856" y="4087368"/>
            <a:ext cx="228600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相对时间是否合理？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C59D1CB7-2074-4BEB-98E0-7B58F4ED4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681728"/>
            <a:ext cx="5394960" cy="4754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h</a:t>
            </a:r>
            <a:r>
              <a:rPr sz="1541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ij</a:t>
            </a:r>
            <a:r>
              <a:rPr sz="2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= [h</a:t>
            </a:r>
            <a:r>
              <a:rPr sz="1541" b="0" baseline="33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sem</a:t>
            </a:r>
            <a:r>
              <a:rPr sz="2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, h</a:t>
            </a:r>
            <a:r>
              <a:rPr sz="1541" b="0" baseline="33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cau</a:t>
            </a:r>
            <a:r>
              <a:rPr sz="2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, h</a:t>
            </a:r>
            <a:r>
              <a:rPr sz="1541" b="0" baseline="33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dep</a:t>
            </a:r>
            <a:r>
              <a:rPr sz="2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, h</a:t>
            </a:r>
            <a:r>
              <a:rPr sz="1541" b="0" baseline="33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temp</a:t>
            </a:r>
            <a:r>
              <a:rPr sz="2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]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8CCA56E-CB6C-44B4-AD0D-D4D3BDB1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303520"/>
            <a:ext cx="53949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s</a:t>
            </a:r>
            <a:r>
              <a:rPr sz="1541" b="0" baseline="33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LLM</a:t>
            </a:r>
            <a:r>
              <a:rPr sz="1541" b="0" baseline="-24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ij</a:t>
            </a: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 = mean(h</a:t>
            </a:r>
            <a:r>
              <a:rPr sz="1541" b="0" baseline="-24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ij</a:t>
            </a: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)</a:t>
            </a:r>
          </a:p>
        </p:txBody>
      </p:sp>
      <p:sp>
        <p:nvSpPr>
          <p:cNvPr id="26" name="Connector 25">
            <a:extLst xmlns:a="http://schemas.openxmlformats.org/drawingml/2006/main">
              <a:ext uri="{FF2B5EF4-FFF2-40B4-BE49-F238E27FC236}">
                <a16:creationId xmlns:a16="http://schemas.microsoft.com/office/drawing/2014/main" id="{60906982-449A-4CAC-A8C2-08D118EB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1591056"/>
            <a:ext cx="0" cy="40050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1AA31268-61DA-4544-809E-132F9DBC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72768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2）共指超图的结构支撑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D0AF8BEA-DEC8-423B-A970-4BA87C98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002536"/>
            <a:ext cx="5239512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将同一概念的多个提及放入共指超边，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此处只表达共享结构，不预设因果方向。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D0EA6FE9-A409-4E4E-8D24-DCC844F0E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743200"/>
            <a:ext cx="233172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6"/>
          </a:solidFill>
          <a:ln xmlns:a="http://schemas.openxmlformats.org/drawingml/2006/main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BD2FA4AF-7839-4192-B88E-D7EFCF3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1" y="290779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killed  ·  killing</a:t>
            </a: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BF69020F-4B51-4187-8EEE-9B1181C5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743200"/>
            <a:ext cx="233172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7F6"/>
          </a:solidFill>
          <a:ln xmlns:a="http://schemas.openxmlformats.org/drawingml/2006/main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EB7F127-609C-405C-9574-CBC030D4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907792"/>
            <a:ext cx="2148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riot  ·  Riot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E6BF3D4-A728-4D42-BA8E-3FF073E7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3621024"/>
            <a:ext cx="50017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超边示意：聚合到概念事件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B74328F-FBC7-475F-9B5B-378ADD6F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096512"/>
            <a:ext cx="12801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共享绑定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88B10CB-5528-41FE-A642-12101E84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096512"/>
            <a:ext cx="37947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共同属于超边的强度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9319E8C-9BF3-4F87-B15A-C54A7A1F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4599432"/>
            <a:ext cx="12801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位置差异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C73119B3-3C7E-4811-BB07-0ADDADA2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599432"/>
            <a:ext cx="37947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句内位置与段落代理差异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A08692AD-D3EE-4EA3-957B-B7548CB5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5102352"/>
            <a:ext cx="12801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结构中心性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376043E4-0400-4262-9C72-8082B200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5102352"/>
            <a:ext cx="379476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事件所属超边数量的均值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173766DA-94F9-452D-9A26-62D13DF3E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79592"/>
            <a:ext cx="113659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AA79DC76-1A9D-4A04-8E37-CCDA055F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8172"/>
            <a:ext cx="110642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两路输出都作为软因果先验：融合后交给 THP 验证，不直接转成最终因果标签。</a:t>
            </a:r>
          </a:p>
        </p:txBody>
      </p:sp>
    </p:spTree>
    <p:extLst>
      <p:ext uri="{BB962C8B-B14F-4D97-AF65-F5344CB8AC3E}">
        <p14:creationId xmlns:p14="http://schemas.microsoft.com/office/powerpoint/2010/main" val="144214231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FC2918-16EA-48F1-B263-76733C86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4830167-4901-42D2-A5BC-B1DBBC38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921F5956-21C9-478D-AF5F-759405E9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555A6C8-0221-47DE-B7EC-2CE9B269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Verify：用拓扑 Hawkes 过程检验叙事传播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9F6E85F6-E698-4B56-AB62-6E92D214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E51013E-CBE8-4238-834B-A550993E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44BEEAD-EFEC-44E4-9DB3-E9F8F595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§3.2 / 式 (5)–(8) / 附录 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492FB2B-7EB9-4547-B3F3-D1362064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05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9B9B6CC-3EFE-44DC-BB72-8B7BB3ED1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516636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1）构造离散叙事时间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26DA570-2FBB-44E8-BDCA-133CB1D1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121408"/>
            <a:ext cx="118872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230CA28-ABA3-4314-A0D8-D4157A745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135124"/>
            <a:ext cx="1133856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事件 i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95D7EB2B-2E7F-483B-8A89-0BD4D278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8833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tᵢ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B5CBA033-EB77-4434-9750-A8D6A12D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121408"/>
            <a:ext cx="118872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7F26FBE-622C-47C9-95F5-57945054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1" y="2135124"/>
            <a:ext cx="1133856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事件 k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88B24C0-640C-4574-8344-4F4169AB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268833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tₖ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DA4B26C-59AF-4E6F-8511-93D204B50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121408"/>
            <a:ext cx="1188720" cy="493776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 w="15240">
            <a:solidFill>
              <a:srgbClr val="3C8D9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0A946C9-4008-43EC-A155-13C30FA1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6512" y="2135124"/>
            <a:ext cx="1133856" cy="4663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事件 j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8F620EC-295C-40A8-97D6-EEEA9B472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688336"/>
            <a:ext cx="1188720" cy="256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tⱼ</a:t>
            </a:r>
          </a:p>
        </p:txBody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4F57166F-24EF-4C3A-A4EE-768BC72D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368296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C8D91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BE530EE6-47A8-41E9-B293-AD59077EA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368296"/>
            <a:ext cx="42976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3C8D91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BB7AEC2-056D-481B-94CB-9A83122F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71800"/>
            <a:ext cx="512064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优先使用 TLINK；缺失时以句子顺序代理。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DE05118-2386-4C75-8CFC-37EBA021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572768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2）融合两路软建议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833132A0-D064-4E77-82D7-25DE50A55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139696"/>
            <a:ext cx="566928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α</a:t>
            </a:r>
            <a:r>
              <a:rPr sz="1474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i→j</a:t>
            </a:r>
            <a:r>
              <a:rPr sz="2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= β</a:t>
            </a:r>
            <a:r>
              <a:rPr sz="1474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2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σ(s</a:t>
            </a:r>
            <a:r>
              <a:rPr sz="1474" b="0" baseline="33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LLM</a:t>
            </a:r>
            <a:r>
              <a:rPr sz="1474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ij</a:t>
            </a:r>
            <a:r>
              <a:rPr sz="2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) + β</a:t>
            </a:r>
            <a:r>
              <a:rPr sz="1474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2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σ(s</a:t>
            </a:r>
            <a:r>
              <a:rPr sz="1474" b="0" baseline="33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struct</a:t>
            </a:r>
            <a:r>
              <a:rPr sz="1474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ij</a:t>
            </a:r>
            <a:r>
              <a:rPr sz="2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)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3C1455B-A778-4B8A-B694-0DF3B52D4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816352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β₁、β₂ 为可学习参数；α 表示解释依赖强度。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6BBF3A55-F123-43AE-9462-1E085DF5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02152"/>
            <a:ext cx="1136599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347DD43-3E9E-4FB2-9CBB-DD04EA12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75887"/>
            <a:ext cx="10972800" cy="5669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7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λ</a:t>
            </a:r>
            <a:r>
              <a:rPr sz="1809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27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= μ</a:t>
            </a:r>
            <a:r>
              <a:rPr sz="1809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27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+ Σ</a:t>
            </a:r>
            <a:r>
              <a:rPr sz="1809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i→j</a:t>
            </a:r>
            <a:r>
              <a:rPr sz="27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α</a:t>
            </a:r>
            <a:r>
              <a:rPr sz="1809" b="0" baseline="33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(l)</a:t>
            </a:r>
            <a:r>
              <a:rPr sz="1809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i→j</a:t>
            </a:r>
            <a:r>
              <a:rPr sz="27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· κ(t</a:t>
            </a:r>
            <a:r>
              <a:rPr sz="1809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27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− t</a:t>
            </a:r>
            <a:r>
              <a:rPr sz="1809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27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) · 𝕀[(i,j) ∈ A]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F870593-05CC-4204-823C-CAD81866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89704"/>
            <a:ext cx="5102352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μ：无父节点时的基础强度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κ：随叙事距离衰减的核；A：当前候选图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E9651B02-7B56-4AB3-8EE0-4D5C8D7C3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340096"/>
            <a:ext cx="539496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9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1306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THP</a:t>
            </a:r>
            <a:r>
              <a:rPr sz="19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= −Σ log λ</a:t>
            </a:r>
            <a:r>
              <a:rPr sz="1306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19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 + Σ ∫ λ</a:t>
            </a:r>
            <a:r>
              <a:rPr sz="1306" b="0" baseline="-2400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19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(t)dt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759C2495-E3C8-4C0C-8238-6FD164AF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42432"/>
            <a:ext cx="521208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联合优化候选边，平衡解释强度与结构复杂度。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8EBCA4C7-DA45-4995-A3F0-8E1D76A1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489704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3）输出一致性校准后的边权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CDE707C-982D-410B-9BE0-C9408C9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010912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2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2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w</a:t>
            </a:r>
            <a:r>
              <a:rPr sz="1474" b="0" baseline="33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(l)</a:t>
            </a:r>
            <a:r>
              <a:rPr sz="1474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i→j</a:t>
            </a:r>
            <a:r>
              <a:rPr sz="22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= E</a:t>
            </a:r>
            <a:r>
              <a:rPr sz="1474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THP</a:t>
            </a:r>
            <a:r>
              <a:rPr sz="22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[ α</a:t>
            </a:r>
            <a:r>
              <a:rPr sz="1474" b="0" baseline="33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(l)</a:t>
            </a:r>
            <a:r>
              <a:rPr sz="1474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i→j</a:t>
            </a:r>
            <a:r>
              <a:rPr sz="22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· κ(t</a:t>
            </a:r>
            <a:r>
              <a:rPr sz="1474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22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− t</a:t>
            </a:r>
            <a:r>
              <a:rPr sz="1474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220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) ]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7A756A17-EDFF-4A8D-A9D2-4D1B6C2A1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5596128"/>
            <a:ext cx="5486400" cy="594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叙事顺序是软先验：逆序候选可被逐步削弱；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THP 用于一致性建模，不拟合真实发生时间。</a:t>
            </a:r>
          </a:p>
        </p:txBody>
      </p:sp>
    </p:spTree>
    <p:extLst>
      <p:ext uri="{BB962C8B-B14F-4D97-AF65-F5344CB8AC3E}">
        <p14:creationId xmlns:p14="http://schemas.microsoft.com/office/powerpoint/2010/main" val="26182279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EC4BE61-3EEB-4148-8AFF-AD62E0D7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0D8E580-978B-42A5-8B55-24B991D2F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52953B3-086B-4899-A31A-D63E9F88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E64D019-725D-41A6-8CF8-92E96574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Revise：传播表示、重评边，再更新候选图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0334AAE4-B01B-4A97-8AE5-050F567B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FEF12C9-AD7F-4A13-BEC9-B44EFA01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353033-24CB-4466-A726-74B9F35C4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§3.3 / 式 (9)–(11) / 附录 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B9EDA00-76D2-4C82-B63F-5B9EEA26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06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B904105-FC8C-49A6-A639-1D5C43A0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530352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结构如何在多轮中变化？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99E2CB5-EA5D-4AAB-88EE-5F61CEB1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984248"/>
            <a:ext cx="530352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机制示意：实线为主干，虚线为低一致性候选。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F0C12D2-4E30-4443-814B-A5C6FEBF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15768"/>
            <a:ext cx="1170432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第 l 轮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AA5A86E0-7DAA-4F09-A843-809931CC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2633472"/>
            <a:ext cx="804672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39194A5-17E6-4209-84FC-3E283E84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1" y="2647188"/>
            <a:ext cx="749808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e₁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09463F4-3C23-4DD2-9EB9-CFE80CCA3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2633472"/>
            <a:ext cx="804672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5B52719-CD06-4368-8C56-53F583150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3" y="2647188"/>
            <a:ext cx="749808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e₂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DD4E723D-8973-4A10-A266-51031C10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2633472"/>
            <a:ext cx="804672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769DC2A-42F8-4EB1-AB66-44F1D037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647188"/>
            <a:ext cx="749808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e₃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D0A74819-16C2-4F0C-96D8-A35D380E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871215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Connector 19">
            <a:extLst xmlns:a="http://schemas.openxmlformats.org/drawingml/2006/main">
              <a:ext uri="{FF2B5EF4-FFF2-40B4-BE49-F238E27FC236}">
                <a16:creationId xmlns:a16="http://schemas.microsoft.com/office/drawing/2014/main" id="{F78EA016-A7E4-445D-BC8C-3BD481B6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3" y="2871215"/>
            <a:ext cx="521209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ABC41FC-B778-4218-B7FB-4A9DD2C9A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33087"/>
            <a:ext cx="1170432" cy="338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第 l+1 轮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F209D3F5-97C6-4406-AA05-CE1A477A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19" y="4050791"/>
            <a:ext cx="804672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CC930E9F-873B-445F-A0B7-0BBC8F29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1" y="4064507"/>
            <a:ext cx="749808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e₁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57EFAF4C-3C5C-40A5-83EA-4434B35A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4050791"/>
            <a:ext cx="804672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1293794-6FF5-4C97-B1AE-069F9774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6703" y="4064507"/>
            <a:ext cx="749808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e₂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DAD56866-24AE-4FC5-8E83-A3D57772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4024" y="4050791"/>
            <a:ext cx="804672" cy="47548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 w="15240">
            <a:solidFill>
              <a:srgbClr val="4472C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8B6A916-A356-4BBB-81CA-04FB3FB4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4064507"/>
            <a:ext cx="749808" cy="4480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e₃</a:t>
            </a:r>
          </a:p>
        </p:txBody>
      </p:sp>
      <p:sp>
        <p:nvSpPr>
          <p:cNvPr id="28" name="Connector 27">
            <a:extLst xmlns:a="http://schemas.openxmlformats.org/drawingml/2006/main">
              <a:ext uri="{FF2B5EF4-FFF2-40B4-BE49-F238E27FC236}">
                <a16:creationId xmlns:a16="http://schemas.microsoft.com/office/drawing/2014/main" id="{1ACDC731-1107-44D4-9DFE-8BE5F3F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4288536"/>
            <a:ext cx="521208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9" name="Connector 28">
            <a:extLst xmlns:a="http://schemas.openxmlformats.org/drawingml/2006/main">
              <a:ext uri="{FF2B5EF4-FFF2-40B4-BE49-F238E27FC236}">
                <a16:creationId xmlns:a16="http://schemas.microsoft.com/office/drawing/2014/main" id="{DFB7BA3C-6CF1-40D2-803C-3E4BBED3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3" y="4288536"/>
            <a:ext cx="521209" cy="0"/>
          </a:xfrm>
          <a:prstGeom xmlns:a="http://schemas.openxmlformats.org/drawingml/2006/main" prst="line">
            <a:avLst/>
          </a:prstGeom>
          <a:ln xmlns:a="http://schemas.openxmlformats.org/drawingml/2006/main" w="2159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84471840-96EB-494E-B72B-5ACA59AB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3127248"/>
            <a:ext cx="0" cy="33832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B85555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3052F708-1671-4762-8FA5-E1D7029E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2276856" y="3465576"/>
            <a:ext cx="2889504" cy="0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B85555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Connector 31">
            <a:extLst xmlns:a="http://schemas.openxmlformats.org/drawingml/2006/main">
              <a:ext uri="{FF2B5EF4-FFF2-40B4-BE49-F238E27FC236}">
                <a16:creationId xmlns:a16="http://schemas.microsoft.com/office/drawing/2014/main" id="{70F5613B-9F4F-4CB8-AF98-0FE73661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276856" y="3127248"/>
            <a:ext cx="0" cy="338328"/>
          </a:xfrm>
          <a:prstGeom xmlns:a="http://schemas.openxmlformats.org/drawingml/2006/main" prst="line">
            <a:avLst/>
          </a:prstGeom>
          <a:ln xmlns:a="http://schemas.openxmlformats.org/drawingml/2006/main" w="16510">
            <a:solidFill>
              <a:srgbClr val="B85555"/>
            </a:solidFill>
            <a:prstDash val="dash"/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3" name="Connector 32">
            <a:extLst xmlns:a="http://schemas.openxmlformats.org/drawingml/2006/main">
              <a:ext uri="{FF2B5EF4-FFF2-40B4-BE49-F238E27FC236}">
                <a16:creationId xmlns:a16="http://schemas.microsoft.com/office/drawing/2014/main" id="{0C51E6A6-862F-4677-A711-464B21DEF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2463" y="3639312"/>
            <a:ext cx="0" cy="329184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B67D39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045E9B3C-7FE8-4BA7-9100-C4989DDE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4873752"/>
            <a:ext cx="5166360" cy="63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THP 边权影响消息传递，更新后的表示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再用于判断候选边是否仍然可靠。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2190F2A9-F6BF-48D3-A61B-BA66AE39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752" y="1572768"/>
            <a:ext cx="0" cy="402336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A855BB3-1946-4D9D-876A-D9311110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00200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E6721851-B84E-49CC-8A6C-4CF3185F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1600200"/>
            <a:ext cx="5157216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表示传播：</a:t>
            </a: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区分句内边与跨句边，用异构图注意力聚合邻居信息，并融合节点自身语义。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C22443B3-A657-4711-868C-285B8485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743200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146EE8C-9586-45CF-87BD-7DA6AB207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743200"/>
            <a:ext cx="5157216" cy="749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有向重评分：</a:t>
            </a: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拼接源事件、目标事件及其表示差，重新评估方向相关的边一致性。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A9EEE231-ED16-4883-A831-A535FACC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2824" y="3602736"/>
            <a:ext cx="5184648" cy="5029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950" b="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s</a:t>
            </a:r>
            <a:r>
              <a:rPr sz="1306" b="0" baseline="-2400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i→j</a:t>
            </a:r>
            <a:r>
              <a:rPr sz="1950" b="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 = σ(u</a:t>
            </a:r>
            <a:r>
              <a:rPr sz="1306" b="0" baseline="3300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T</a:t>
            </a:r>
            <a:r>
              <a:rPr sz="1950" b="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[h</a:t>
            </a:r>
            <a:r>
              <a:rPr sz="1306" b="0" baseline="-2400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1950" b="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 ‖ h</a:t>
            </a:r>
            <a:r>
              <a:rPr sz="1306" b="0" baseline="-2400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1950" b="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 ‖ (h</a:t>
            </a:r>
            <a:r>
              <a:rPr sz="1306" b="0" baseline="-2400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j</a:t>
            </a:r>
            <a:r>
              <a:rPr sz="1950" b="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−h</a:t>
            </a:r>
            <a:r>
              <a:rPr sz="1306" b="0" baseline="-2400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i</a:t>
            </a:r>
            <a:r>
              <a:rPr sz="1950" b="0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)])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0C38EE1E-2E62-43E4-8F2B-5FC434397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4425696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91E54A45-0959-411B-8DA2-A20CA13E8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425696"/>
            <a:ext cx="5157216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图结构修正：</a:t>
            </a: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依据新分数重估或抑制低一致性边，再将更新图送入下一轮 THP 验证。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CD19DC14-82DE-49B5-9E44-A8034EF8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79592"/>
            <a:ext cx="113659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D7892064-001D-490E-BC7B-190CC244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8172"/>
            <a:ext cx="110642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训练稳定性：先验权重逐步注入；采用门控残差融合，弱图或空图时保留节点语义。</a:t>
            </a:r>
          </a:p>
        </p:txBody>
      </p:sp>
    </p:spTree>
    <p:extLst>
      <p:ext uri="{BB962C8B-B14F-4D97-AF65-F5344CB8AC3E}">
        <p14:creationId xmlns:p14="http://schemas.microsoft.com/office/powerpoint/2010/main" val="162825961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AC5EEC2-C967-4FCE-AA7D-290E64E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E1A5303-A090-4801-B395-786B01C06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D60F713-17C2-4A05-93F2-44647834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3C742FB-5EA4-4EEF-9158-B129C9F32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双层结构对比学习：同时学习“角色”和“关系边界”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91526EBC-0FE6-4A93-8F2C-7F68396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D9B1C2A-EEC5-48BC-84C4-7C05247D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7B7E853-DE1C-47FA-B8B3-2A021E743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§3.3 / 式 (12)、(13) / 附录 F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92D32AF-8861-4A5C-8A20-B66B299E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07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8A22C8C-74DC-47E2-8052-D67907FA7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事件级：让相同因果角色更接近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475BB9F-1818-479E-94DC-49A006D0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72768"/>
            <a:ext cx="5376672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事件对级：拉开因果与非因果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B2CAC33-6C87-4635-B559-187827E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02536"/>
            <a:ext cx="5468112" cy="63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依据当前图的 1 跳子结构编码事件；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同角色为正例，异角色中选困难负例。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CC64BDE-C918-4403-8A62-0408A5BD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2536"/>
            <a:ext cx="5349240" cy="63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将事件对作为关系单元；因果对为正例，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结构上最相似的非因果对作为困难负例。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7E6982A-7FC7-4689-A4D7-631CA9CE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62072"/>
            <a:ext cx="1636776" cy="12344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F1B0454-C086-4314-9EA8-40532917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" y="2971800"/>
            <a:ext cx="152704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锚点：类因</a:t>
            </a:r>
          </a:p>
        </p:txBody>
      </p:sp>
      <p:sp>
        <p:nvSpPr>
          <p:cNvPr id="16" name="Connector 15">
            <a:extLst xmlns:a="http://schemas.openxmlformats.org/drawingml/2006/main">
              <a:ext uri="{FF2B5EF4-FFF2-40B4-BE49-F238E27FC236}">
                <a16:creationId xmlns:a16="http://schemas.microsoft.com/office/drawing/2014/main" id="{82CB88F0-DEBF-454C-9C5C-066F9639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11501" y="3517323"/>
            <a:ext cx="475217" cy="1393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5743F06E-3DFB-4999-81A8-16EF5626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01" y="3713343"/>
            <a:ext cx="475217" cy="1393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59667F37-AFBA-4580-82A5-B1CC1AA8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6027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5E2ABABE-20C3-42FB-8BD2-0BBB9F05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40156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5468B904-17B3-416E-B17A-4B2DB12D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0390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D5957254-0A91-4B1A-95BD-600E1FB9A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862072"/>
            <a:ext cx="1636776" cy="12344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3E3EFE3-6EF5-40F5-97C0-CBE1E1EE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016" y="2971800"/>
            <a:ext cx="152704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正例：同角色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F6488441-F3DB-4FDE-8AC3-AF9D39AB5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67733" y="3517323"/>
            <a:ext cx="475217" cy="1393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Connector 23">
            <a:extLst xmlns:a="http://schemas.openxmlformats.org/drawingml/2006/main">
              <a:ext uri="{FF2B5EF4-FFF2-40B4-BE49-F238E27FC236}">
                <a16:creationId xmlns:a16="http://schemas.microsoft.com/office/drawing/2014/main" id="{4B95B61E-5E45-45B8-AEEC-B2E2FCCD3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733" y="3713343"/>
            <a:ext cx="475217" cy="1393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4472C4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6A5807BD-082C-4C99-9968-8F7D0CFE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6027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EF3EA641-648E-4500-9005-FAE11F88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0156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CB6F772F-1B7F-41BF-A450-866172C4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80390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472C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A37B9F1A-90AF-48C8-A6E6-6A8A2B34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2862072"/>
            <a:ext cx="1636776" cy="123444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EF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76E12B7-4CF2-44C7-AD7A-0640067A3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2971800"/>
            <a:ext cx="152704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50" b="1">
                <a:solidFill>
                  <a:srgbClr val="B85555"/>
                </a:solidFill>
                <a:latin typeface="微软雅黑"/>
                <a:ea typeface="微软雅黑"/>
                <a:cs typeface="微软雅黑"/>
              </a:rPr>
              <a:t>困难负例</a:t>
            </a:r>
          </a:p>
        </p:txBody>
      </p:sp>
      <p:sp>
        <p:nvSpPr>
          <p:cNvPr id="30" name="Connector 29">
            <a:extLst xmlns:a="http://schemas.openxmlformats.org/drawingml/2006/main">
              <a:ext uri="{FF2B5EF4-FFF2-40B4-BE49-F238E27FC236}">
                <a16:creationId xmlns:a16="http://schemas.microsoft.com/office/drawing/2014/main" id="{5D7A86B3-D20F-4E5F-B3F6-9734FA0E4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841513" y="3512175"/>
            <a:ext cx="475217" cy="1393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85555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Connector 30">
            <a:extLst xmlns:a="http://schemas.openxmlformats.org/drawingml/2006/main">
              <a:ext uri="{FF2B5EF4-FFF2-40B4-BE49-F238E27FC236}">
                <a16:creationId xmlns:a16="http://schemas.microsoft.com/office/drawing/2014/main" id="{EF295BB3-DD95-461B-A60C-D0E2B1F9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841513" y="3718491"/>
            <a:ext cx="475217" cy="139397"/>
          </a:xfrm>
          <a:prstGeom xmlns:a="http://schemas.openxmlformats.org/drawingml/2006/main" prst="line">
            <a:avLst/>
          </a:prstGeom>
          <a:ln xmlns:a="http://schemas.openxmlformats.org/drawingml/2006/main" w="20320">
            <a:solidFill>
              <a:srgbClr val="B85555"/>
            </a:solidFill>
            <a:tailEnd type="triangle" w="med" len="med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A465B781-A203-440F-B507-66997575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152" y="3602736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5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CCB86A8-3E30-4D32-BA9F-7C0FE8EA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401568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5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12C16900-2353-407D-B56C-54C6A462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3803904"/>
            <a:ext cx="164592" cy="16459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55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6A5F6FA-B040-4A40-8A9E-A8151B00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42816"/>
            <a:ext cx="534924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另采样随机简单负例；困难负例权重为 2。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026EFBA4-AC22-4474-B093-01A0DCC0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28032"/>
            <a:ext cx="5349240" cy="832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13254A4-BC2F-4F75-9842-376D8AE81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01768"/>
            <a:ext cx="50749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9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L</a:t>
            </a:r>
            <a:r>
              <a:rPr sz="1273" b="0" baseline="-24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event</a:t>
            </a:r>
            <a:r>
              <a:rPr sz="19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 = −log [ E</a:t>
            </a:r>
            <a:r>
              <a:rPr sz="1273" b="0" baseline="33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sz="19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 / (E</a:t>
            </a:r>
            <a:r>
              <a:rPr sz="1273" b="0" baseline="33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sz="19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 + 2E</a:t>
            </a:r>
            <a:r>
              <a:rPr sz="1273" b="0" baseline="33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h</a:t>
            </a:r>
            <a:r>
              <a:rPr sz="19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 + E</a:t>
            </a:r>
            <a:r>
              <a:rPr sz="1273" b="0" baseline="33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r</a:t>
            </a:r>
            <a:r>
              <a:rPr sz="19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) ]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E453374-8114-44B3-ADBC-A7470F8E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15000"/>
            <a:ext cx="52578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E(x) = exp(cos(zᵢ, x) / τ)；按角色约束表示。</a:t>
            </a:r>
          </a:p>
        </p:txBody>
      </p:sp>
      <p:sp>
        <p:nvSpPr>
          <p:cNvPr id="39" name="Connector 38">
            <a:extLst xmlns:a="http://schemas.openxmlformats.org/drawingml/2006/main">
              <a:ext uri="{FF2B5EF4-FFF2-40B4-BE49-F238E27FC236}">
                <a16:creationId xmlns:a16="http://schemas.microsoft.com/office/drawing/2014/main" id="{D87D7ACC-A70A-44B0-A5D5-648BCCC0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72768"/>
            <a:ext cx="0" cy="453542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F8386637-6D46-4D63-AEE3-28B96C2C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62072"/>
            <a:ext cx="5166360" cy="5303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7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323CCBE-313D-4F45-9597-106A958F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980944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正例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EB5141C0-FC3A-4B33-9385-43BF733E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2980944"/>
            <a:ext cx="3749039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存在因果关系的事件对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5B7877F-038B-4D3B-9FC5-0AF08382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84448"/>
            <a:ext cx="5166360" cy="530352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AEFE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64A9840C-220F-4C67-A1FC-DA5407C04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3703320"/>
            <a:ext cx="1005840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B85555"/>
                </a:solidFill>
                <a:latin typeface="微软雅黑"/>
                <a:ea typeface="微软雅黑"/>
                <a:cs typeface="微软雅黑"/>
              </a:rPr>
              <a:t>困难负例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718DC497-5259-4F75-9FEC-5C64A5370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79" y="3703320"/>
            <a:ext cx="3749039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形似因果、实为非因果的事件对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49B9948-9078-4C20-8A07-AA063EA5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52544"/>
            <a:ext cx="5166360" cy="283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困难度随当前边权及结构相似度动态更新。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60C50A28-203B-42E5-8B4A-7F4FE939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828032"/>
            <a:ext cx="5166360" cy="8321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C2075D68-B5A0-4DE6-955D-A6B92634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01768"/>
            <a:ext cx="489204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95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L</a:t>
            </a:r>
            <a:r>
              <a:rPr sz="1306" b="0" baseline="-24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pair</a:t>
            </a:r>
            <a:r>
              <a:rPr sz="195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= Σ max(0, γ + sim</a:t>
            </a:r>
            <a:r>
              <a:rPr sz="1306" b="0" baseline="33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−</a:t>
            </a:r>
            <a:r>
              <a:rPr sz="195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 − sim</a:t>
            </a:r>
            <a:r>
              <a:rPr sz="1306" b="0" baseline="3300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+</a:t>
            </a:r>
            <a:r>
              <a:rPr sz="1950" b="0">
                <a:solidFill>
                  <a:srgbClr val="3C8D91"/>
                </a:solidFill>
                <a:latin typeface="微软雅黑"/>
                <a:ea typeface="微软雅黑"/>
                <a:cs typeface="微软雅黑"/>
              </a:rPr>
              <a:t>)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F4B89816-EACD-4E55-BB7A-5829D1AAB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715000"/>
            <a:ext cx="507492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sim⁺ / sim⁻ 为与正例 / 负例的余弦相似度。</a:t>
            </a:r>
          </a:p>
        </p:txBody>
      </p:sp>
    </p:spTree>
    <p:extLst>
      <p:ext uri="{BB962C8B-B14F-4D97-AF65-F5344CB8AC3E}">
        <p14:creationId xmlns:p14="http://schemas.microsoft.com/office/powerpoint/2010/main" val="171656148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99456BD-1C7A-40F4-80A7-57AD1EF5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166204A-25DD-4292-AF20-6C622F66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478B3D6-D7CA-4D7F-AECC-781D1D77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BF9B723-5C8E-466E-B8B2-2D0A861CB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算法闭环与训练：先稳住图，再强化结构判别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1FF1336B-AF0E-4E7A-B053-9F8CEF16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41FD820-0FA1-46F5-BCB9-07A5E8FC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FED7055-DA8C-4BE9-9ACE-4F55F281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§3.4 / 式 (14)、(15) / 附录 H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9E8589D-366F-4413-A741-C62F0D5C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08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19C0790-F20F-4674-A6F7-7D4DD743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55778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算法步骤（依据正文整理）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F1A211C-85BE-436C-BE0C-233631FA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66543"/>
            <a:ext cx="420624" cy="3383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07F4D1C-48EF-4EA9-B4E1-EA097169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84831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BC45593-D697-4EE9-931A-3A65AA8C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2071115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编码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7901B9D-F7DA-4002-87C2-57DC4CA9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071115"/>
            <a:ext cx="4251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BERT 提及跨度均值池化，得到事件表示。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9EF9725-CC71-4AAD-859C-859E738C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0048"/>
            <a:ext cx="420624" cy="3383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57583D5-09B6-4B01-A9C3-CF90CD34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688336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9ADC0D3-70BB-4780-B9F5-EE5262B4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2674620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建议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354AA51-6657-4048-9EB4-CE414EE8F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2674620"/>
            <a:ext cx="4251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融合四维 LLM 建议与超图结构先验。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79F105D9-A9EA-4711-AA3D-BD5F4B28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3552"/>
            <a:ext cx="420624" cy="3383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0D155FF-ED58-4555-A9B7-6F172B1B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291840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864FCA0-5EE5-44C5-BE94-2E72758FB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3278124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A148E20-ECAE-48A5-A06C-0967DEDA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278124"/>
            <a:ext cx="4251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在当前候选图上用 THP 校准边权。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8BBD9C11-A0EF-4565-B5B2-28EFC0C4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7056"/>
            <a:ext cx="420624" cy="3383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7D33916-DA53-4F5E-8BB2-A74BB4716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3895344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13D0FB7-BADB-46B7-80F9-839358AE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3881628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修正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001E3E0-C1EE-41AC-BDE0-50F2237C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3881628"/>
            <a:ext cx="4251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图传播 → 有向重评分 → 更新候选结构。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0192F04F-8141-4959-B3AA-18C896FA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0560"/>
            <a:ext cx="420624" cy="3383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032D739-A773-4045-811F-03432957B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4498848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0B68972D-5058-4802-9F5D-0F26BD1F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4485132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E4AE9F6-08BD-4696-9BF0-7068C078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4485132"/>
            <a:ext cx="4251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训练时动态采样，逐步加入双层对比项。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AC5A021E-866B-4768-8BB1-BF5704907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84064"/>
            <a:ext cx="420624" cy="338328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EC170881-6AC6-497B-9BFF-2F13E2B7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5102352"/>
            <a:ext cx="310896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A8010C74-E553-46FD-8516-04FE11D0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5088636"/>
            <a:ext cx="64008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DA80E92-4670-4F36-A919-881164AB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5648" y="5088636"/>
            <a:ext cx="425196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至少 2 轮且预测变化足够小；最多 9 轮。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8958CB1A-76C8-4245-9D84-77273925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572768"/>
            <a:ext cx="0" cy="42336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AE98B989-D033-4AAA-A422-E9DC21F8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1572768"/>
            <a:ext cx="520293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判别目标与 THP 交替优化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DE5B6552-4C50-4363-8531-087D5564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2066543"/>
            <a:ext cx="5202936" cy="7589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8C2BA908-2EAF-4887-AC94-579903C6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267712"/>
            <a:ext cx="4818888" cy="3931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24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L = L</a:t>
            </a:r>
            <a:r>
              <a:rPr sz="1608" b="0" baseline="-24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cls</a:t>
            </a:r>
            <a:r>
              <a:rPr sz="24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 + λ</a:t>
            </a:r>
            <a:r>
              <a:rPr sz="1608" b="0" baseline="-24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sz="24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L</a:t>
            </a:r>
            <a:r>
              <a:rPr sz="1608" b="0" baseline="-24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event</a:t>
            </a:r>
            <a:r>
              <a:rPr sz="24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 + λ</a:t>
            </a:r>
            <a:r>
              <a:rPr sz="1608" b="0" baseline="-24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2</a:t>
            </a:r>
            <a:r>
              <a:rPr sz="24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L</a:t>
            </a:r>
            <a:r>
              <a:rPr sz="1608" b="0" baseline="-2400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pair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72E19E6-AFFE-4FD6-8DE2-AE70274B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980944"/>
            <a:ext cx="5138928" cy="6309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分类项：各轮 Focal Loss 以 1/l 加权。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THP：单独优化其负对数似然以细化结构。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9990D5F9-1DE5-4A95-9BE3-C30DBEA2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4536" y="3822191"/>
            <a:ext cx="5202936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对比项的启用时机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B27F208-B307-40B8-B485-86BD29C69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343400"/>
            <a:ext cx="100584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前提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A6946072-183D-469D-BA17-E49F41552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4343400"/>
            <a:ext cx="38862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因果图达到初步收敛，降低噪声采样。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AD428D75-27AE-4A7F-9C88-8DA58134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4855464"/>
            <a:ext cx="100584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事件级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024E5F66-4FC9-406B-A75B-D4E9CCD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4855464"/>
            <a:ext cx="38862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采用 3 个 epoch 预热逐步引入。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1D9E3CAC-38F7-4EB7-8C8E-2078E533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5367528"/>
            <a:ext cx="100584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事件对级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E87F013C-12EF-4A3A-BB1F-6CFE2648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3256" y="5367528"/>
            <a:ext cx="38862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从 epoch 10 起，权重由 0.05 递增。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8C0ED634-C5AE-488B-B0DC-7F19FDB0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79592"/>
            <a:ext cx="113659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BD1E1654-4DD2-4DD7-8BA4-999F2B6B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8172"/>
            <a:ext cx="110642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推理输出最终因果预测；对比损失用于训练。配置：表示维度 768，图注意力头数 4。</a:t>
            </a:r>
          </a:p>
        </p:txBody>
      </p:sp>
    </p:spTree>
    <p:extLst>
      <p:ext uri="{BB962C8B-B14F-4D97-AF65-F5344CB8AC3E}">
        <p14:creationId xmlns:p14="http://schemas.microsoft.com/office/powerpoint/2010/main" val="36526688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0378F64-A27F-47F8-8D5E-5E2206CE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980EE4-9502-411B-A009-99D10B65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F69F151-DF59-4BD6-9811-CCFA3FD0A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7677CE6-EED3-4719-A298-F0B07701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主要结果：跨句与总体识别均获提升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FCC48F90-BC15-418B-B4C6-B0F3979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CB1213C-BD81-4063-9712-8CD68A7C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79CD807-1F40-4132-B089-49118844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表 1 / §4.1–4.3 / 附录 G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67090C8-FAE2-44DC-BEDB-9CFEB750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09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04EA18B-1E3A-4BBE-BA2E-629A3023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110642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ESC：258 篇文档，评估句内 / 跨句 / 总体；CTB：183 篇文档，仅评估句内。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184CBD89-5F93-48DE-BA97-D9809458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121408"/>
            <a:ext cx="74066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F1（%）：从原表选取代表性方法</a:t>
            </a:r>
          </a:p>
        </p:txBody>
      </p:sp>
      <p:graphicFrame>
        <p:nvGraphicFramePr>
          <p:cNvPr id="12" name="Table 11">
            <a:extLst xmlns:a="http://schemas.openxmlformats.org/drawingml/2006/main">
              <a:ext uri="{FF2B5EF4-FFF2-40B4-BE49-F238E27FC236}">
                <a16:creationId xmlns:a16="http://schemas.microsoft.com/office/drawing/2014/main" id="{83A9A3B2-EB88-4329-B66B-DDB4DF528049}"/>
              </a:ext>
            </a:extLst>
          </p:cNvPr>
          <p:cNvGraphicFramePr/>
          <p:nvPr/>
        </p:nvGraphicFramePr>
        <p:xfrm>
          <a:off xmlns:a="http://schemas.openxmlformats.org/drawingml/2006/main" x="411480" y="2697480"/>
          <a:ext xmlns:a="http://schemas.openxmlformats.org/drawingml/2006/main" cx="7909560" cy="26051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389888"/>
                <a:gridCol w="1389888"/>
                <a:gridCol w="1399032"/>
                <a:gridCol w="1399032"/>
              </a:tblGrid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ESC 句内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ESC 跨句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ESC 总体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CTB 句内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4472C4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RichGCN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55.2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42.2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46.6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46.7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PPAT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65.3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52.0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56.4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62.4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iLIF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71.2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59.1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62.5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EHNEM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66.6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61.0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62.8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—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7F9FC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DeepSeek-v3.2¹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44.4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28.8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32.3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11.4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721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SVRECI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71.9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61.9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65.0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50" b="1">
                          <a:solidFill>
                            <a:srgbClr val="4472C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64.5</a:t>
                      </a:r>
                    </a:p>
                  </a:txBody>
                  <a:tcPr marL="91440" marR="45720" marT="59436" marB="27432" anchor="ctr"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  <a:solidFill>
                      <a:srgbClr val="EDF3FC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1599DD5-DE38-4503-925B-2C67D710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0680"/>
            <a:ext cx="7863840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¹ DeepSeek 为零样本基线；“—”表示原文未报告。总体 = 句内与跨句合并。</a:t>
            </a:r>
          </a:p>
        </p:txBody>
      </p:sp>
      <p:sp>
        <p:nvSpPr>
          <p:cNvPr id="14" name="Connector 13">
            <a:extLst xmlns:a="http://schemas.openxmlformats.org/drawingml/2006/main">
              <a:ext uri="{FF2B5EF4-FFF2-40B4-BE49-F238E27FC236}">
                <a16:creationId xmlns:a16="http://schemas.microsoft.com/office/drawing/2014/main" id="{E5C64267-49C7-4C84-8F1A-980EA2B2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7072" y="2148840"/>
            <a:ext cx="0" cy="342900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0E02671-9B68-487D-B91C-F697A3B5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2576"/>
            <a:ext cx="219456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+2.2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17CC9AC-333C-423A-AB5F-D6296441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2523744"/>
            <a:ext cx="795528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百分点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ECFD63B-E19E-487E-B340-A9778A2D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16936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ESC 总体：65.0 vs. 62.8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BE7C7D1-4E6A-4E9C-8E15-FFA8ED78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419856"/>
            <a:ext cx="219456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+0.9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840FE54-D1BD-4A26-9F3F-4CAD4EDCC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3621024"/>
            <a:ext cx="795528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百分点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D8CF635-4C33-4A54-A4C9-30BC76E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14216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ESC 跨句：61.9 vs. 61.0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E94C444-2082-41E1-9438-7C41817D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17136"/>
            <a:ext cx="2194560" cy="5120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+2.1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988D523-5756-4671-8E3F-5D0AA684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80" y="4718304"/>
            <a:ext cx="795528" cy="2377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百分点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B26FE9C-E970-40DA-89BF-075DCB36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11496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CTB 句内：64.5 vs. 62.4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B82A6AF-097F-4838-ADF4-65320519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79592"/>
            <a:ext cx="113659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6EFDDC7-880A-483C-9C3E-F52D60976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8172"/>
            <a:ext cx="110642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结果解读：ESC 总体 P / R = 65.5 / 64.5；结构验证提高可靠性，漏检仍是改进空间。</a:t>
            </a:r>
          </a:p>
        </p:txBody>
      </p:sp>
    </p:spTree>
    <p:extLst>
      <p:ext uri="{BB962C8B-B14F-4D97-AF65-F5344CB8AC3E}">
        <p14:creationId xmlns:p14="http://schemas.microsoft.com/office/powerpoint/2010/main" val="136305477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B8DF16A-0148-4225-B45E-4CA8971C4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94944"/>
          </a:xfrm>
          <a:prstGeom xmlns:a="http://schemas.openxmlformats.org/drawingml/2006/main" prst="rect">
            <a:avLst/>
          </a:prstGeom>
          <a:gradFill xmlns:a="http://schemas.openxmlformats.org/drawingml/2006/main" flip="none" rotWithShape="1">
            <a:gsLst>
              <a:gs pos="400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4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DE3CF10-149D-4458-AAA2-F8E87446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3716"/>
            <a:ext cx="12191999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00" b="0">
                <a:solidFill>
                  <a:srgbClr val="000000"/>
                </a:solidFill>
                <a:latin typeface="黑体"/>
                <a:ea typeface="黑体"/>
                <a:cs typeface="黑体"/>
              </a:rPr>
              <a:t>论文阅读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9483AB8-55E5-42C7-94D2-AA3D43F8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" y="896112"/>
            <a:ext cx="219456" cy="292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6480FB2-BFB5-4A9D-9731-E23331F3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" y="877824"/>
            <a:ext cx="11338560" cy="438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4472C4"/>
                </a:solidFill>
                <a:latin typeface="黑体"/>
                <a:ea typeface="黑体"/>
                <a:cs typeface="黑体"/>
              </a:rPr>
              <a:t>消融与思考：迭代修正是关键收益来源</a:t>
            </a:r>
          </a:p>
        </p:txBody>
      </p:sp>
      <p:sp>
        <p:nvSpPr>
          <p:cNvPr id="6" name="Connector 5">
            <a:extLst xmlns:a="http://schemas.openxmlformats.org/drawingml/2006/main">
              <a:ext uri="{FF2B5EF4-FFF2-40B4-BE49-F238E27FC236}">
                <a16:creationId xmlns:a16="http://schemas.microsoft.com/office/drawing/2014/main" id="{19EF635A-9BF5-435C-87B3-AF6CE9D9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473952"/>
            <a:ext cx="11365992" cy="0"/>
          </a:xfrm>
          <a:prstGeom xmlns:a="http://schemas.openxmlformats.org/drawingml/2006/main" prst="line">
            <a:avLst/>
          </a:prstGeom>
          <a:ln xmlns:a="http://schemas.openxmlformats.org/drawingml/2006/main" w="889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DB44A7A-31B2-497B-BF69-95F7111E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6565392"/>
            <a:ext cx="7498079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[1] Su et al. Suggest-Verify-Revise. ACL 2026, pp. 19067–19091.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F469764-E5F8-477B-9885-BF9275FC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6565392"/>
            <a:ext cx="3566160" cy="1828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表 2、3 / §5–6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A8617A0-1F9F-4EE7-A5CE-BDF1FDEB6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1672" y="6537960"/>
            <a:ext cx="685800" cy="2194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10 / 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F1C9FA-B963-47EF-B7DE-19C61267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72768"/>
            <a:ext cx="56692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0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ESC 总体 F1：移除模块后的变化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BDCB396-40D9-4D6E-8BBB-FA75C657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57400"/>
            <a:ext cx="5349240" cy="466344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6E2EC88-F759-4861-A6D1-E1A1CE8C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2075688"/>
            <a:ext cx="5239512" cy="429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完整 SVRECI：65.0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4179304-2038-47B6-A571-2D6416AB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去掉多源建议（−SG）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F73AE39-7ED8-4421-B6F5-CC6622D6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274320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61.6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602444CE-3D78-40CE-A703-6E21EFE1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2807208"/>
            <a:ext cx="963777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C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76521BF-CE79-4BA7-B642-F4C44159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743200"/>
            <a:ext cx="49377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−3.4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8363064F-E18F-4CAE-9F48-119A622C8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82696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去掉 THP 验证（−TV）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C49793EF-F539-4FCD-9B74-4CFBE3147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282696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62.2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7BD1E10-6BBE-4E76-A66F-31EC5F736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346703"/>
            <a:ext cx="793699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C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567BEFA-8096-486D-A2BE-7801C6F6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282696"/>
            <a:ext cx="49377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−2.8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B7E4A80-8F83-473B-AB3F-9F572156F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22191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去掉迭代修正（−IR）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E1AD901-CA2E-4706-9B48-1E1BF011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3822191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60.8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B9E6E1F-3C8A-4142-B536-48CB6C5B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3886200"/>
            <a:ext cx="1190548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7D3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20C3851-188F-4747-AB11-29E12EFF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822191"/>
            <a:ext cx="49377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1">
                <a:solidFill>
                  <a:srgbClr val="B67D39"/>
                </a:solidFill>
                <a:latin typeface="微软雅黑"/>
                <a:ea typeface="微软雅黑"/>
                <a:cs typeface="微软雅黑"/>
              </a:rPr>
              <a:t>−4.2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B4A9A5B-A1B5-4712-8770-78043B3C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61688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去掉双层对比（−CL）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BBB24D4-796B-4F28-BD4E-84B97097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361688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62.1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CD6A67-5962-4661-BCE8-C6DF3396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4425696"/>
            <a:ext cx="822045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C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55CE492E-CD1E-4041-9DD6-BA83C4DB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361688"/>
            <a:ext cx="49377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−2.9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FBC6D128-97B7-48FE-A68D-D4091F32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901183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改为单步更新（−iter.）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9FF06A1-4BF2-4013-AA73-83EE674E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5576" y="4901183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61.5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C6B303AE-8ABC-407B-B844-CEEDD73FB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544" y="4965192"/>
            <a:ext cx="992124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ACD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80A0706F-55FB-4EB2-BAD9-4FDFA1F8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901183"/>
            <a:ext cx="493776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−3.5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66A50043-B0C1-4E04-AA96-2EB2D296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559552"/>
            <a:ext cx="5577840" cy="3474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26B78"/>
                </a:solidFill>
                <a:latin typeface="微软雅黑"/>
                <a:ea typeface="微软雅黑"/>
                <a:cs typeface="微软雅黑"/>
              </a:rPr>
              <a:t>数字为 F1；右侧条形与标签表示相对完整模型下降的百分点。</a:t>
            </a:r>
          </a:p>
        </p:txBody>
      </p:sp>
      <p:sp>
        <p:nvSpPr>
          <p:cNvPr id="34" name="Connector 33">
            <a:extLst xmlns:a="http://schemas.openxmlformats.org/drawingml/2006/main">
              <a:ext uri="{FF2B5EF4-FFF2-40B4-BE49-F238E27FC236}">
                <a16:creationId xmlns:a16="http://schemas.microsoft.com/office/drawing/2014/main" id="{57EBEF80-8845-4B7D-AFF1-78FC5376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1572768"/>
            <a:ext cx="0" cy="4215384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D1DCEC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E45C9D74-9757-4D92-B368-165EDB7F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1609344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2320202-FC93-42CF-B4F5-4F6D6833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609344"/>
            <a:ext cx="4828031" cy="9509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实验启示：</a:t>
            </a: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去掉 IR 下降 4.2 点；单步更新也下降 3.5 点，说明多轮结构反馈具有价值。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9F315AB-B163-40C9-9AA9-E5667F7C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898648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6D5D8E80-40E7-4688-B69F-AD955115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898648"/>
            <a:ext cx="4828031" cy="9326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作者局限：</a:t>
            </a: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建议质量受提示设计影响；缺少时间标注时，句序代理会引入时间噪声。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09CB856-0E6A-43B0-89DB-49D4EEC5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4224528"/>
            <a:ext cx="201168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➢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E44FC232-D814-4227-BE9E-0D57F920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4224528"/>
            <a:ext cx="4828031" cy="960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/>
            </a:r>
            <a:r>
              <a:rPr sz="1750" b="1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阅读思考：</a:t>
            </a:r>
            <a:r>
              <a:rPr sz="1750" b="0">
                <a:solidFill>
                  <a:srgbClr val="222222"/>
                </a:solidFill>
                <a:latin typeface="微软雅黑"/>
                <a:ea typeface="微软雅黑"/>
                <a:cs typeface="微软雅黑"/>
              </a:rPr>
              <a:t>可进一步测试倒叙叙事的鲁棒性，并量化多轮验证修正的计算开销。</a:t>
            </a: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A78032AC-9FDB-4B3E-9310-342CBA35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5879592"/>
            <a:ext cx="11365992" cy="4389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F3E4AEB7-0718-4BE1-8F6E-6E99EC7D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48172"/>
            <a:ext cx="1106424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00" b="1">
                <a:solidFill>
                  <a:srgbClr val="4472C4"/>
                </a:solidFill>
                <a:latin typeface="微软雅黑"/>
                <a:ea typeface="微软雅黑"/>
                <a:cs typeface="微软雅黑"/>
              </a:rPr>
              <a:t>可借鉴的方法：多源软建议 → 全局结构验证 → 表示与图的交替修正。</a:t>
            </a:r>
          </a:p>
        </p:txBody>
      </p:sp>
    </p:spTree>
    <p:extLst>
      <p:ext uri="{BB962C8B-B14F-4D97-AF65-F5344CB8AC3E}">
        <p14:creationId xmlns:p14="http://schemas.microsoft.com/office/powerpoint/2010/main" val="155688052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ajorFont>
      <a:minorFont>
        <a:latin typeface="微软雅黑"/>
        <a:ea typeface="微软雅黑"/>
        <a:cs typeface="微软雅黑"/>
        <a:font script="Jpan" typeface="微软雅黑"/>
        <a:font script="Hang" typeface="微软雅黑"/>
        <a:font script="Hans" typeface="宋体"/>
        <a:font script="Hant" typeface="微软雅黑"/>
        <a:font script="Arab" typeface="微软雅黑"/>
        <a:font script="Hebr" typeface="微软雅黑"/>
        <a:font script="Thai" typeface="微软雅黑"/>
        <a:font script="Ethi" typeface="微软雅黑"/>
        <a:font script="Beng" typeface="微软雅黑"/>
        <a:font script="Gujr" typeface="微软雅黑"/>
        <a:font script="Khmr" typeface="微软雅黑"/>
        <a:font script="Knda" typeface="微软雅黑"/>
        <a:font script="Guru" typeface="微软雅黑"/>
        <a:font script="Cans" typeface="微软雅黑"/>
        <a:font script="Cher" typeface="微软雅黑"/>
        <a:font script="Yiii" typeface="微软雅黑"/>
        <a:font script="Tibt" typeface="微软雅黑"/>
        <a:font script="Thaa" typeface="微软雅黑"/>
        <a:font script="Deva" typeface="微软雅黑"/>
        <a:font script="Telu" typeface="微软雅黑"/>
        <a:font script="Taml" typeface="微软雅黑"/>
        <a:font script="Syrc" typeface="微软雅黑"/>
        <a:font script="Orya" typeface="微软雅黑"/>
        <a:font script="Mlym" typeface="微软雅黑"/>
        <a:font script="Laoo" typeface="微软雅黑"/>
        <a:font script="Sinh" typeface="微软雅黑"/>
        <a:font script="Mong" typeface="微软雅黑"/>
        <a:font script="Viet" typeface="微软雅黑"/>
        <a:font script="Uigh" typeface="微软雅黑"/>
        <a:font script="Geor" typeface="微软雅黑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2026-10-22T13:18:04.9100000Z</dcterms:created>
  <dcterms:modified xsi:type="dcterms:W3CDTF">2026-10-22T13:18:04.9100000Z</dcterms:modified>
</coreProperties>
</file>